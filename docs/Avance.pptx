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1" r:id="rId5"/>
    <p:sldId id="260" r:id="rId6"/>
    <p:sldId id="263" r:id="rId7"/>
    <p:sldId id="262" r:id="rId8"/>
    <p:sldId id="264" r:id="rId9"/>
    <p:sldId id="265" r:id="rId10"/>
    <p:sldId id="259" r:id="rId11"/>
    <p:sldId id="266" r:id="rId12"/>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5EB9E50E-BF29-4E51-ABFE-FF2FB7E887A7}">
          <p14:sldIdLst>
            <p14:sldId id="256"/>
            <p14:sldId id="258"/>
            <p14:sldId id="257"/>
          </p14:sldIdLst>
        </p14:section>
        <p14:section name="Introduction" id="{535AF66F-6CA5-4B94-B22C-E6F40C6970BA}">
          <p14:sldIdLst>
            <p14:sldId id="261"/>
          </p14:sldIdLst>
        </p14:section>
        <p14:section name="Methodology" id="{1C54D64E-AF58-4983-A723-666F321985BA}">
          <p14:sldIdLst>
            <p14:sldId id="260"/>
            <p14:sldId id="263"/>
            <p14:sldId id="262"/>
            <p14:sldId id="264"/>
          </p14:sldIdLst>
        </p14:section>
        <p14:section name="Results and discussion" id="{06DF944B-5DD2-41DB-ACFA-C0B2757042E4}">
          <p14:sldIdLst>
            <p14:sldId id="265"/>
          </p14:sldIdLst>
        </p14:section>
        <p14:section name="Journals" id="{F9B52920-4A52-4DF0-975C-938F87B6B8C6}">
          <p14:sldIdLst>
            <p14:sldId id="259"/>
            <p14:sldId id="26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F12CCE-D172-3D94-3CCB-786962EFB75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1AF7AEB8-41AD-BF6C-2D47-915CB3713B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D1447B7B-3C0B-B3D9-21FF-AE3090D90C90}"/>
              </a:ext>
            </a:extLst>
          </p:cNvPr>
          <p:cNvSpPr>
            <a:spLocks noGrp="1"/>
          </p:cNvSpPr>
          <p:nvPr>
            <p:ph type="dt" sz="half" idx="10"/>
          </p:nvPr>
        </p:nvSpPr>
        <p:spPr/>
        <p:txBody>
          <a:bodyPr/>
          <a:lstStyle/>
          <a:p>
            <a:fld id="{F93D79D2-7AD8-4185-9CC8-48ECCB28E456}" type="datetimeFigureOut">
              <a:rPr lang="es-CL" smtClean="0"/>
              <a:t>17-07-2025</a:t>
            </a:fld>
            <a:endParaRPr lang="es-CL"/>
          </a:p>
        </p:txBody>
      </p:sp>
      <p:sp>
        <p:nvSpPr>
          <p:cNvPr id="5" name="Marcador de pie de página 4">
            <a:extLst>
              <a:ext uri="{FF2B5EF4-FFF2-40B4-BE49-F238E27FC236}">
                <a16:creationId xmlns:a16="http://schemas.microsoft.com/office/drawing/2014/main" id="{766986D6-089C-202E-DE80-405A26B0A57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E4FAF5C-876F-0F65-4F89-55A81C376840}"/>
              </a:ext>
            </a:extLst>
          </p:cNvPr>
          <p:cNvSpPr>
            <a:spLocks noGrp="1"/>
          </p:cNvSpPr>
          <p:nvPr>
            <p:ph type="sldNum" sz="quarter" idx="12"/>
          </p:nvPr>
        </p:nvSpPr>
        <p:spPr/>
        <p:txBody>
          <a:bodyPr/>
          <a:lstStyle/>
          <a:p>
            <a:fld id="{0250C351-3BB8-4CA4-B247-593E08C2F3F0}" type="slidenum">
              <a:rPr lang="es-CL" smtClean="0"/>
              <a:t>‹Nº›</a:t>
            </a:fld>
            <a:endParaRPr lang="es-CL"/>
          </a:p>
        </p:txBody>
      </p:sp>
    </p:spTree>
    <p:extLst>
      <p:ext uri="{BB962C8B-B14F-4D97-AF65-F5344CB8AC3E}">
        <p14:creationId xmlns:p14="http://schemas.microsoft.com/office/powerpoint/2010/main" val="1439077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543C76-9280-75B5-24A2-DF33F48B97CB}"/>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04428F66-D3B3-360A-2417-93140E7EFD3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6BFFF65-6C23-5040-71B1-2178BC58F692}"/>
              </a:ext>
            </a:extLst>
          </p:cNvPr>
          <p:cNvSpPr>
            <a:spLocks noGrp="1"/>
          </p:cNvSpPr>
          <p:nvPr>
            <p:ph type="dt" sz="half" idx="10"/>
          </p:nvPr>
        </p:nvSpPr>
        <p:spPr/>
        <p:txBody>
          <a:bodyPr/>
          <a:lstStyle/>
          <a:p>
            <a:fld id="{F93D79D2-7AD8-4185-9CC8-48ECCB28E456}" type="datetimeFigureOut">
              <a:rPr lang="es-CL" smtClean="0"/>
              <a:t>17-07-2025</a:t>
            </a:fld>
            <a:endParaRPr lang="es-CL"/>
          </a:p>
        </p:txBody>
      </p:sp>
      <p:sp>
        <p:nvSpPr>
          <p:cNvPr id="5" name="Marcador de pie de página 4">
            <a:extLst>
              <a:ext uri="{FF2B5EF4-FFF2-40B4-BE49-F238E27FC236}">
                <a16:creationId xmlns:a16="http://schemas.microsoft.com/office/drawing/2014/main" id="{725D29D4-22C3-A66D-722B-92517E60CAC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CD62FFF-D6AA-0291-F47C-CD4227A18D9B}"/>
              </a:ext>
            </a:extLst>
          </p:cNvPr>
          <p:cNvSpPr>
            <a:spLocks noGrp="1"/>
          </p:cNvSpPr>
          <p:nvPr>
            <p:ph type="sldNum" sz="quarter" idx="12"/>
          </p:nvPr>
        </p:nvSpPr>
        <p:spPr/>
        <p:txBody>
          <a:bodyPr/>
          <a:lstStyle/>
          <a:p>
            <a:fld id="{0250C351-3BB8-4CA4-B247-593E08C2F3F0}" type="slidenum">
              <a:rPr lang="es-CL" smtClean="0"/>
              <a:t>‹Nº›</a:t>
            </a:fld>
            <a:endParaRPr lang="es-CL"/>
          </a:p>
        </p:txBody>
      </p:sp>
    </p:spTree>
    <p:extLst>
      <p:ext uri="{BB962C8B-B14F-4D97-AF65-F5344CB8AC3E}">
        <p14:creationId xmlns:p14="http://schemas.microsoft.com/office/powerpoint/2010/main" val="1375732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B4F9B9-710C-7C10-69E1-FA8064BD823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1C05F0A-582C-2855-C35E-1FB6D2C4F8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5843BBE-1FFD-1197-42FC-E71E04519F18}"/>
              </a:ext>
            </a:extLst>
          </p:cNvPr>
          <p:cNvSpPr>
            <a:spLocks noGrp="1"/>
          </p:cNvSpPr>
          <p:nvPr>
            <p:ph type="dt" sz="half" idx="10"/>
          </p:nvPr>
        </p:nvSpPr>
        <p:spPr/>
        <p:txBody>
          <a:bodyPr/>
          <a:lstStyle/>
          <a:p>
            <a:fld id="{F93D79D2-7AD8-4185-9CC8-48ECCB28E456}" type="datetimeFigureOut">
              <a:rPr lang="es-CL" smtClean="0"/>
              <a:t>17-07-2025</a:t>
            </a:fld>
            <a:endParaRPr lang="es-CL"/>
          </a:p>
        </p:txBody>
      </p:sp>
      <p:sp>
        <p:nvSpPr>
          <p:cNvPr id="5" name="Marcador de pie de página 4">
            <a:extLst>
              <a:ext uri="{FF2B5EF4-FFF2-40B4-BE49-F238E27FC236}">
                <a16:creationId xmlns:a16="http://schemas.microsoft.com/office/drawing/2014/main" id="{3C287E70-D209-0B76-BF18-283849989D18}"/>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19752D0-A415-4E73-BFD5-82E5DD61867B}"/>
              </a:ext>
            </a:extLst>
          </p:cNvPr>
          <p:cNvSpPr>
            <a:spLocks noGrp="1"/>
          </p:cNvSpPr>
          <p:nvPr>
            <p:ph type="sldNum" sz="quarter" idx="12"/>
          </p:nvPr>
        </p:nvSpPr>
        <p:spPr/>
        <p:txBody>
          <a:bodyPr/>
          <a:lstStyle/>
          <a:p>
            <a:fld id="{0250C351-3BB8-4CA4-B247-593E08C2F3F0}" type="slidenum">
              <a:rPr lang="es-CL" smtClean="0"/>
              <a:t>‹Nº›</a:t>
            </a:fld>
            <a:endParaRPr lang="es-CL"/>
          </a:p>
        </p:txBody>
      </p:sp>
    </p:spTree>
    <p:extLst>
      <p:ext uri="{BB962C8B-B14F-4D97-AF65-F5344CB8AC3E}">
        <p14:creationId xmlns:p14="http://schemas.microsoft.com/office/powerpoint/2010/main" val="2404869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4CFB75-8D4F-CB94-C297-3624727C62D7}"/>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6A6F5CD-88B4-5558-86AD-A9A5DBCE648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9B2079B6-072A-5CEF-6C1C-2E5457E8F9B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83E0426F-3B92-32F8-85F0-9C2C9B991F06}"/>
              </a:ext>
            </a:extLst>
          </p:cNvPr>
          <p:cNvSpPr>
            <a:spLocks noGrp="1"/>
          </p:cNvSpPr>
          <p:nvPr>
            <p:ph type="dt" sz="half" idx="10"/>
          </p:nvPr>
        </p:nvSpPr>
        <p:spPr/>
        <p:txBody>
          <a:bodyPr/>
          <a:lstStyle/>
          <a:p>
            <a:fld id="{F93D79D2-7AD8-4185-9CC8-48ECCB28E456}" type="datetimeFigureOut">
              <a:rPr lang="es-CL" smtClean="0"/>
              <a:t>17-07-2025</a:t>
            </a:fld>
            <a:endParaRPr lang="es-CL"/>
          </a:p>
        </p:txBody>
      </p:sp>
      <p:sp>
        <p:nvSpPr>
          <p:cNvPr id="6" name="Marcador de pie de página 5">
            <a:extLst>
              <a:ext uri="{FF2B5EF4-FFF2-40B4-BE49-F238E27FC236}">
                <a16:creationId xmlns:a16="http://schemas.microsoft.com/office/drawing/2014/main" id="{0BEB3D89-D5FC-E073-716D-89F5EB5D0B1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86D90CFE-769A-F121-AA37-7C497AA4E829}"/>
              </a:ext>
            </a:extLst>
          </p:cNvPr>
          <p:cNvSpPr>
            <a:spLocks noGrp="1"/>
          </p:cNvSpPr>
          <p:nvPr>
            <p:ph type="sldNum" sz="quarter" idx="12"/>
          </p:nvPr>
        </p:nvSpPr>
        <p:spPr/>
        <p:txBody>
          <a:bodyPr/>
          <a:lstStyle/>
          <a:p>
            <a:fld id="{0250C351-3BB8-4CA4-B247-593E08C2F3F0}" type="slidenum">
              <a:rPr lang="es-CL" smtClean="0"/>
              <a:t>‹Nº›</a:t>
            </a:fld>
            <a:endParaRPr lang="es-CL"/>
          </a:p>
        </p:txBody>
      </p:sp>
    </p:spTree>
    <p:extLst>
      <p:ext uri="{BB962C8B-B14F-4D97-AF65-F5344CB8AC3E}">
        <p14:creationId xmlns:p14="http://schemas.microsoft.com/office/powerpoint/2010/main" val="2560466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0EC5DA-6FD1-9D3D-6070-BD641061D56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ED1EA72-D148-4422-8587-433E8B4DEA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88FC463-9AB9-6A4B-948A-37CEA4C25DF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D66B3C09-1580-528F-783C-05C4DB453B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049AF09-E390-4DAC-9F2B-B4816D6BF3D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368B716F-4063-727B-8B0F-FC6248DD29DB}"/>
              </a:ext>
            </a:extLst>
          </p:cNvPr>
          <p:cNvSpPr>
            <a:spLocks noGrp="1"/>
          </p:cNvSpPr>
          <p:nvPr>
            <p:ph type="dt" sz="half" idx="10"/>
          </p:nvPr>
        </p:nvSpPr>
        <p:spPr/>
        <p:txBody>
          <a:bodyPr/>
          <a:lstStyle/>
          <a:p>
            <a:fld id="{F93D79D2-7AD8-4185-9CC8-48ECCB28E456}" type="datetimeFigureOut">
              <a:rPr lang="es-CL" smtClean="0"/>
              <a:t>17-07-2025</a:t>
            </a:fld>
            <a:endParaRPr lang="es-CL"/>
          </a:p>
        </p:txBody>
      </p:sp>
      <p:sp>
        <p:nvSpPr>
          <p:cNvPr id="8" name="Marcador de pie de página 7">
            <a:extLst>
              <a:ext uri="{FF2B5EF4-FFF2-40B4-BE49-F238E27FC236}">
                <a16:creationId xmlns:a16="http://schemas.microsoft.com/office/drawing/2014/main" id="{B2602F2A-F960-DA17-AFCF-F6F6A91AB86F}"/>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1A771EFB-052F-4EAD-7EF1-0FB2CEC58668}"/>
              </a:ext>
            </a:extLst>
          </p:cNvPr>
          <p:cNvSpPr>
            <a:spLocks noGrp="1"/>
          </p:cNvSpPr>
          <p:nvPr>
            <p:ph type="sldNum" sz="quarter" idx="12"/>
          </p:nvPr>
        </p:nvSpPr>
        <p:spPr/>
        <p:txBody>
          <a:bodyPr/>
          <a:lstStyle/>
          <a:p>
            <a:fld id="{0250C351-3BB8-4CA4-B247-593E08C2F3F0}" type="slidenum">
              <a:rPr lang="es-CL" smtClean="0"/>
              <a:t>‹Nº›</a:t>
            </a:fld>
            <a:endParaRPr lang="es-CL"/>
          </a:p>
        </p:txBody>
      </p:sp>
    </p:spTree>
    <p:extLst>
      <p:ext uri="{BB962C8B-B14F-4D97-AF65-F5344CB8AC3E}">
        <p14:creationId xmlns:p14="http://schemas.microsoft.com/office/powerpoint/2010/main" val="63197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A6CF9C-5CE9-4185-6E46-654F7B747A8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3D3A9029-021D-74A9-8189-30A9DBC462ED}"/>
              </a:ext>
            </a:extLst>
          </p:cNvPr>
          <p:cNvSpPr>
            <a:spLocks noGrp="1"/>
          </p:cNvSpPr>
          <p:nvPr>
            <p:ph type="dt" sz="half" idx="10"/>
          </p:nvPr>
        </p:nvSpPr>
        <p:spPr/>
        <p:txBody>
          <a:bodyPr/>
          <a:lstStyle/>
          <a:p>
            <a:fld id="{F93D79D2-7AD8-4185-9CC8-48ECCB28E456}" type="datetimeFigureOut">
              <a:rPr lang="es-CL" smtClean="0"/>
              <a:t>17-07-2025</a:t>
            </a:fld>
            <a:endParaRPr lang="es-CL"/>
          </a:p>
        </p:txBody>
      </p:sp>
      <p:sp>
        <p:nvSpPr>
          <p:cNvPr id="4" name="Marcador de pie de página 3">
            <a:extLst>
              <a:ext uri="{FF2B5EF4-FFF2-40B4-BE49-F238E27FC236}">
                <a16:creationId xmlns:a16="http://schemas.microsoft.com/office/drawing/2014/main" id="{D5950B8A-648C-B5D7-5B56-B5D7CEE1E2A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A353A30-C19E-79DF-9DBB-EAF7D54FD736}"/>
              </a:ext>
            </a:extLst>
          </p:cNvPr>
          <p:cNvSpPr>
            <a:spLocks noGrp="1"/>
          </p:cNvSpPr>
          <p:nvPr>
            <p:ph type="sldNum" sz="quarter" idx="12"/>
          </p:nvPr>
        </p:nvSpPr>
        <p:spPr/>
        <p:txBody>
          <a:bodyPr/>
          <a:lstStyle/>
          <a:p>
            <a:fld id="{0250C351-3BB8-4CA4-B247-593E08C2F3F0}" type="slidenum">
              <a:rPr lang="es-CL" smtClean="0"/>
              <a:t>‹Nº›</a:t>
            </a:fld>
            <a:endParaRPr lang="es-CL"/>
          </a:p>
        </p:txBody>
      </p:sp>
    </p:spTree>
    <p:extLst>
      <p:ext uri="{BB962C8B-B14F-4D97-AF65-F5344CB8AC3E}">
        <p14:creationId xmlns:p14="http://schemas.microsoft.com/office/powerpoint/2010/main" val="2843308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00FEAF0-3302-943B-B938-ECE021656CF6}"/>
              </a:ext>
            </a:extLst>
          </p:cNvPr>
          <p:cNvSpPr>
            <a:spLocks noGrp="1"/>
          </p:cNvSpPr>
          <p:nvPr>
            <p:ph type="dt" sz="half" idx="10"/>
          </p:nvPr>
        </p:nvSpPr>
        <p:spPr/>
        <p:txBody>
          <a:bodyPr/>
          <a:lstStyle/>
          <a:p>
            <a:fld id="{F93D79D2-7AD8-4185-9CC8-48ECCB28E456}" type="datetimeFigureOut">
              <a:rPr lang="es-CL" smtClean="0"/>
              <a:t>17-07-2025</a:t>
            </a:fld>
            <a:endParaRPr lang="es-CL"/>
          </a:p>
        </p:txBody>
      </p:sp>
      <p:sp>
        <p:nvSpPr>
          <p:cNvPr id="3" name="Marcador de pie de página 2">
            <a:extLst>
              <a:ext uri="{FF2B5EF4-FFF2-40B4-BE49-F238E27FC236}">
                <a16:creationId xmlns:a16="http://schemas.microsoft.com/office/drawing/2014/main" id="{9250FC48-FE24-2238-3E36-BB2CBC0C9110}"/>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86832E66-1D64-8E28-E916-DD8CB4EC7623}"/>
              </a:ext>
            </a:extLst>
          </p:cNvPr>
          <p:cNvSpPr>
            <a:spLocks noGrp="1"/>
          </p:cNvSpPr>
          <p:nvPr>
            <p:ph type="sldNum" sz="quarter" idx="12"/>
          </p:nvPr>
        </p:nvSpPr>
        <p:spPr/>
        <p:txBody>
          <a:bodyPr/>
          <a:lstStyle/>
          <a:p>
            <a:fld id="{0250C351-3BB8-4CA4-B247-593E08C2F3F0}" type="slidenum">
              <a:rPr lang="es-CL" smtClean="0"/>
              <a:t>‹Nº›</a:t>
            </a:fld>
            <a:endParaRPr lang="es-CL"/>
          </a:p>
        </p:txBody>
      </p:sp>
    </p:spTree>
    <p:extLst>
      <p:ext uri="{BB962C8B-B14F-4D97-AF65-F5344CB8AC3E}">
        <p14:creationId xmlns:p14="http://schemas.microsoft.com/office/powerpoint/2010/main" val="1448862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862B69-359D-DE64-7411-1C2CAF41814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C9482B12-B9B6-A1D1-4A51-56C8FAF31A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1D888033-9549-BD94-43DC-D1A078C6F3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07A3A46-8035-A877-8458-E8B32B77C2C9}"/>
              </a:ext>
            </a:extLst>
          </p:cNvPr>
          <p:cNvSpPr>
            <a:spLocks noGrp="1"/>
          </p:cNvSpPr>
          <p:nvPr>
            <p:ph type="dt" sz="half" idx="10"/>
          </p:nvPr>
        </p:nvSpPr>
        <p:spPr/>
        <p:txBody>
          <a:bodyPr/>
          <a:lstStyle/>
          <a:p>
            <a:fld id="{F93D79D2-7AD8-4185-9CC8-48ECCB28E456}" type="datetimeFigureOut">
              <a:rPr lang="es-CL" smtClean="0"/>
              <a:t>17-07-2025</a:t>
            </a:fld>
            <a:endParaRPr lang="es-CL"/>
          </a:p>
        </p:txBody>
      </p:sp>
      <p:sp>
        <p:nvSpPr>
          <p:cNvPr id="6" name="Marcador de pie de página 5">
            <a:extLst>
              <a:ext uri="{FF2B5EF4-FFF2-40B4-BE49-F238E27FC236}">
                <a16:creationId xmlns:a16="http://schemas.microsoft.com/office/drawing/2014/main" id="{2E699744-04DF-A0F3-EB22-7918CE947B46}"/>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1ADE8F1B-3DEF-DCC2-7F2F-88376F08A347}"/>
              </a:ext>
            </a:extLst>
          </p:cNvPr>
          <p:cNvSpPr>
            <a:spLocks noGrp="1"/>
          </p:cNvSpPr>
          <p:nvPr>
            <p:ph type="sldNum" sz="quarter" idx="12"/>
          </p:nvPr>
        </p:nvSpPr>
        <p:spPr/>
        <p:txBody>
          <a:bodyPr/>
          <a:lstStyle/>
          <a:p>
            <a:fld id="{0250C351-3BB8-4CA4-B247-593E08C2F3F0}" type="slidenum">
              <a:rPr lang="es-CL" smtClean="0"/>
              <a:t>‹Nº›</a:t>
            </a:fld>
            <a:endParaRPr lang="es-CL"/>
          </a:p>
        </p:txBody>
      </p:sp>
    </p:spTree>
    <p:extLst>
      <p:ext uri="{BB962C8B-B14F-4D97-AF65-F5344CB8AC3E}">
        <p14:creationId xmlns:p14="http://schemas.microsoft.com/office/powerpoint/2010/main" val="4233675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6E7756-CDCA-C950-8809-0B03A19B236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EAA74214-15B8-FF9E-0001-244081391A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F7530D1C-6596-17D6-0A46-2677C4E769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6E20C04-7B9E-48F2-AB1A-74B12390875D}"/>
              </a:ext>
            </a:extLst>
          </p:cNvPr>
          <p:cNvSpPr>
            <a:spLocks noGrp="1"/>
          </p:cNvSpPr>
          <p:nvPr>
            <p:ph type="dt" sz="half" idx="10"/>
          </p:nvPr>
        </p:nvSpPr>
        <p:spPr/>
        <p:txBody>
          <a:bodyPr/>
          <a:lstStyle/>
          <a:p>
            <a:fld id="{F93D79D2-7AD8-4185-9CC8-48ECCB28E456}" type="datetimeFigureOut">
              <a:rPr lang="es-CL" smtClean="0"/>
              <a:t>17-07-2025</a:t>
            </a:fld>
            <a:endParaRPr lang="es-CL"/>
          </a:p>
        </p:txBody>
      </p:sp>
      <p:sp>
        <p:nvSpPr>
          <p:cNvPr id="6" name="Marcador de pie de página 5">
            <a:extLst>
              <a:ext uri="{FF2B5EF4-FFF2-40B4-BE49-F238E27FC236}">
                <a16:creationId xmlns:a16="http://schemas.microsoft.com/office/drawing/2014/main" id="{6DD0CC39-35F1-3335-6CC4-52EC74CADC2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1CCF3AE-9267-08DE-25DB-17730C52EDFF}"/>
              </a:ext>
            </a:extLst>
          </p:cNvPr>
          <p:cNvSpPr>
            <a:spLocks noGrp="1"/>
          </p:cNvSpPr>
          <p:nvPr>
            <p:ph type="sldNum" sz="quarter" idx="12"/>
          </p:nvPr>
        </p:nvSpPr>
        <p:spPr/>
        <p:txBody>
          <a:bodyPr/>
          <a:lstStyle/>
          <a:p>
            <a:fld id="{0250C351-3BB8-4CA4-B247-593E08C2F3F0}" type="slidenum">
              <a:rPr lang="es-CL" smtClean="0"/>
              <a:t>‹Nº›</a:t>
            </a:fld>
            <a:endParaRPr lang="es-CL"/>
          </a:p>
        </p:txBody>
      </p:sp>
    </p:spTree>
    <p:extLst>
      <p:ext uri="{BB962C8B-B14F-4D97-AF65-F5344CB8AC3E}">
        <p14:creationId xmlns:p14="http://schemas.microsoft.com/office/powerpoint/2010/main" val="1486769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864621-87FC-253A-3440-F5BECE071C8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56F9D837-1C76-FBB3-7510-5D113F5428A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2E339935-6E82-7FAF-6C89-F5574D9C10A7}"/>
              </a:ext>
            </a:extLst>
          </p:cNvPr>
          <p:cNvSpPr>
            <a:spLocks noGrp="1"/>
          </p:cNvSpPr>
          <p:nvPr>
            <p:ph type="dt" sz="half" idx="10"/>
          </p:nvPr>
        </p:nvSpPr>
        <p:spPr/>
        <p:txBody>
          <a:bodyPr/>
          <a:lstStyle/>
          <a:p>
            <a:fld id="{F93D79D2-7AD8-4185-9CC8-48ECCB28E456}" type="datetimeFigureOut">
              <a:rPr lang="es-CL" smtClean="0"/>
              <a:t>17-07-2025</a:t>
            </a:fld>
            <a:endParaRPr lang="es-CL"/>
          </a:p>
        </p:txBody>
      </p:sp>
      <p:sp>
        <p:nvSpPr>
          <p:cNvPr id="5" name="Marcador de pie de página 4">
            <a:extLst>
              <a:ext uri="{FF2B5EF4-FFF2-40B4-BE49-F238E27FC236}">
                <a16:creationId xmlns:a16="http://schemas.microsoft.com/office/drawing/2014/main" id="{13E94180-31F6-AA03-5EB0-D60DD28476F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A39926F-3226-A041-DF7D-50A117DA02C0}"/>
              </a:ext>
            </a:extLst>
          </p:cNvPr>
          <p:cNvSpPr>
            <a:spLocks noGrp="1"/>
          </p:cNvSpPr>
          <p:nvPr>
            <p:ph type="sldNum" sz="quarter" idx="12"/>
          </p:nvPr>
        </p:nvSpPr>
        <p:spPr/>
        <p:txBody>
          <a:bodyPr/>
          <a:lstStyle/>
          <a:p>
            <a:fld id="{0250C351-3BB8-4CA4-B247-593E08C2F3F0}" type="slidenum">
              <a:rPr lang="es-CL" smtClean="0"/>
              <a:t>‹Nº›</a:t>
            </a:fld>
            <a:endParaRPr lang="es-CL"/>
          </a:p>
        </p:txBody>
      </p:sp>
    </p:spTree>
    <p:extLst>
      <p:ext uri="{BB962C8B-B14F-4D97-AF65-F5344CB8AC3E}">
        <p14:creationId xmlns:p14="http://schemas.microsoft.com/office/powerpoint/2010/main" val="30875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78CD32F-475D-1F08-B7D9-17331C193B9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A14C901A-B320-932A-B8C1-10586E940BA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12160B6A-B99C-7940-C67C-26D6BE30F682}"/>
              </a:ext>
            </a:extLst>
          </p:cNvPr>
          <p:cNvSpPr>
            <a:spLocks noGrp="1"/>
          </p:cNvSpPr>
          <p:nvPr>
            <p:ph type="dt" sz="half" idx="10"/>
          </p:nvPr>
        </p:nvSpPr>
        <p:spPr/>
        <p:txBody>
          <a:bodyPr/>
          <a:lstStyle/>
          <a:p>
            <a:fld id="{F93D79D2-7AD8-4185-9CC8-48ECCB28E456}" type="datetimeFigureOut">
              <a:rPr lang="es-CL" smtClean="0"/>
              <a:t>17-07-2025</a:t>
            </a:fld>
            <a:endParaRPr lang="es-CL"/>
          </a:p>
        </p:txBody>
      </p:sp>
      <p:sp>
        <p:nvSpPr>
          <p:cNvPr id="5" name="Marcador de pie de página 4">
            <a:extLst>
              <a:ext uri="{FF2B5EF4-FFF2-40B4-BE49-F238E27FC236}">
                <a16:creationId xmlns:a16="http://schemas.microsoft.com/office/drawing/2014/main" id="{18A3AA1E-2F2C-739B-125F-C075F599502B}"/>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06A9198-2844-B329-7A3F-2B706A9D450C}"/>
              </a:ext>
            </a:extLst>
          </p:cNvPr>
          <p:cNvSpPr>
            <a:spLocks noGrp="1"/>
          </p:cNvSpPr>
          <p:nvPr>
            <p:ph type="sldNum" sz="quarter" idx="12"/>
          </p:nvPr>
        </p:nvSpPr>
        <p:spPr/>
        <p:txBody>
          <a:bodyPr/>
          <a:lstStyle/>
          <a:p>
            <a:fld id="{0250C351-3BB8-4CA4-B247-593E08C2F3F0}" type="slidenum">
              <a:rPr lang="es-CL" smtClean="0"/>
              <a:t>‹Nº›</a:t>
            </a:fld>
            <a:endParaRPr lang="es-CL"/>
          </a:p>
        </p:txBody>
      </p:sp>
    </p:spTree>
    <p:extLst>
      <p:ext uri="{BB962C8B-B14F-4D97-AF65-F5344CB8AC3E}">
        <p14:creationId xmlns:p14="http://schemas.microsoft.com/office/powerpoint/2010/main" val="2271823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AB31B49-D6CB-4A23-D658-77F8B7658B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BA8C6EF3-CC23-4357-93E1-83672DA633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2E78B762-F850-9EDA-FC2B-D9F0375AB1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3D79D2-7AD8-4185-9CC8-48ECCB28E456}" type="datetimeFigureOut">
              <a:rPr lang="es-CL" smtClean="0"/>
              <a:t>17-07-2025</a:t>
            </a:fld>
            <a:endParaRPr lang="es-CL"/>
          </a:p>
        </p:txBody>
      </p:sp>
      <p:sp>
        <p:nvSpPr>
          <p:cNvPr id="5" name="Marcador de pie de página 4">
            <a:extLst>
              <a:ext uri="{FF2B5EF4-FFF2-40B4-BE49-F238E27FC236}">
                <a16:creationId xmlns:a16="http://schemas.microsoft.com/office/drawing/2014/main" id="{D8F6F4BD-E1E6-1BFF-29CB-CB75517E48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4D2341A8-26C7-B4AE-0F5D-EE6FA12A62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50C351-3BB8-4CA4-B247-593E08C2F3F0}" type="slidenum">
              <a:rPr lang="es-CL" smtClean="0"/>
              <a:t>‹Nº›</a:t>
            </a:fld>
            <a:endParaRPr lang="es-CL"/>
          </a:p>
        </p:txBody>
      </p:sp>
    </p:spTree>
    <p:extLst>
      <p:ext uri="{BB962C8B-B14F-4D97-AF65-F5344CB8AC3E}">
        <p14:creationId xmlns:p14="http://schemas.microsoft.com/office/powerpoint/2010/main" val="24462289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8.jp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image" Target="../media/image13.sv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jpg"/><Relationship Id="rId10" Type="http://schemas.openxmlformats.org/officeDocument/2006/relationships/image" Target="../media/image20.jpg"/><Relationship Id="rId4" Type="http://schemas.openxmlformats.org/officeDocument/2006/relationships/image" Target="../media/image14.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elsevier.com/journals/hardwarex/2468-0672/guide-for-authors" TargetMode="External"/><Relationship Id="rId2" Type="http://schemas.openxmlformats.org/officeDocument/2006/relationships/image" Target="../media/image22.jpg"/><Relationship Id="rId1" Type="http://schemas.openxmlformats.org/officeDocument/2006/relationships/slideLayout" Target="../slideLayouts/slideLayout7.xml"/><Relationship Id="rId4" Type="http://schemas.openxmlformats.org/officeDocument/2006/relationships/hyperlink" Target="https://zenodo.org/record/5078227"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427B03-0E72-A3EF-D7E5-82D7FF597950}"/>
              </a:ext>
            </a:extLst>
          </p:cNvPr>
          <p:cNvSpPr>
            <a:spLocks noGrp="1"/>
          </p:cNvSpPr>
          <p:nvPr>
            <p:ph type="ctrTitle"/>
          </p:nvPr>
        </p:nvSpPr>
        <p:spPr/>
        <p:txBody>
          <a:bodyPr/>
          <a:lstStyle/>
          <a:p>
            <a:r>
              <a:rPr lang="en-US" noProof="0" dirty="0"/>
              <a:t>fusion-point-cam</a:t>
            </a:r>
          </a:p>
        </p:txBody>
      </p:sp>
      <p:sp>
        <p:nvSpPr>
          <p:cNvPr id="3" name="Subtítulo 2">
            <a:extLst>
              <a:ext uri="{FF2B5EF4-FFF2-40B4-BE49-F238E27FC236}">
                <a16:creationId xmlns:a16="http://schemas.microsoft.com/office/drawing/2014/main" id="{3FAEE985-790E-ABAC-0DCD-EFBE8DD294D9}"/>
              </a:ext>
            </a:extLst>
          </p:cNvPr>
          <p:cNvSpPr>
            <a:spLocks noGrp="1"/>
          </p:cNvSpPr>
          <p:nvPr>
            <p:ph type="subTitle" idx="1"/>
          </p:nvPr>
        </p:nvSpPr>
        <p:spPr/>
        <p:txBody>
          <a:bodyPr/>
          <a:lstStyle/>
          <a:p>
            <a:r>
              <a:rPr lang="en-US" noProof="0" dirty="0" err="1"/>
              <a:t>Msc</a:t>
            </a:r>
            <a:r>
              <a:rPr lang="en-US" noProof="0" dirty="0"/>
              <a:t>. Marco Villegas</a:t>
            </a:r>
          </a:p>
        </p:txBody>
      </p:sp>
    </p:spTree>
    <p:extLst>
      <p:ext uri="{BB962C8B-B14F-4D97-AF65-F5344CB8AC3E}">
        <p14:creationId xmlns:p14="http://schemas.microsoft.com/office/powerpoint/2010/main" val="3029982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DE505-67E0-B65D-AE7A-BD6998381907}"/>
              </a:ext>
            </a:extLst>
          </p:cNvPr>
          <p:cNvSpPr>
            <a:spLocks noGrp="1"/>
          </p:cNvSpPr>
          <p:nvPr>
            <p:ph type="title"/>
          </p:nvPr>
        </p:nvSpPr>
        <p:spPr/>
        <p:txBody>
          <a:bodyPr/>
          <a:lstStyle/>
          <a:p>
            <a:r>
              <a:rPr lang="en-US" noProof="0" dirty="0"/>
              <a:t>Hypothesis</a:t>
            </a:r>
          </a:p>
        </p:txBody>
      </p:sp>
      <p:sp>
        <p:nvSpPr>
          <p:cNvPr id="3" name="Marcador de contenido 2">
            <a:extLst>
              <a:ext uri="{FF2B5EF4-FFF2-40B4-BE49-F238E27FC236}">
                <a16:creationId xmlns:a16="http://schemas.microsoft.com/office/drawing/2014/main" id="{E1409E11-8D80-4F2E-8FF5-3201D853BCEB}"/>
              </a:ext>
            </a:extLst>
          </p:cNvPr>
          <p:cNvSpPr>
            <a:spLocks noGrp="1"/>
          </p:cNvSpPr>
          <p:nvPr>
            <p:ph idx="1"/>
          </p:nvPr>
        </p:nvSpPr>
        <p:spPr/>
        <p:txBody>
          <a:bodyPr/>
          <a:lstStyle/>
          <a:p>
            <a:pPr marL="0" indent="0">
              <a:buNone/>
            </a:pPr>
            <a:r>
              <a:rPr lang="en-US" noProof="0" dirty="0"/>
              <a:t>The use of ESP-32-CAM coupled with a temperature sensor allows the experimental determination of melting point of unreported deep eutectic solvents ant it solid-liquid equilibria modelling. </a:t>
            </a:r>
          </a:p>
        </p:txBody>
      </p:sp>
    </p:spTree>
    <p:extLst>
      <p:ext uri="{BB962C8B-B14F-4D97-AF65-F5344CB8AC3E}">
        <p14:creationId xmlns:p14="http://schemas.microsoft.com/office/powerpoint/2010/main" val="2211061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A2B57B-DFC9-3B50-D9F4-CF58E03FFA1A}"/>
              </a:ext>
            </a:extLst>
          </p:cNvPr>
          <p:cNvSpPr>
            <a:spLocks noGrp="1"/>
          </p:cNvSpPr>
          <p:nvPr>
            <p:ph type="title"/>
          </p:nvPr>
        </p:nvSpPr>
        <p:spPr/>
        <p:txBody>
          <a:bodyPr/>
          <a:lstStyle/>
          <a:p>
            <a:r>
              <a:rPr lang="en-US" noProof="0" dirty="0" err="1"/>
              <a:t>Objetivos</a:t>
            </a:r>
            <a:endParaRPr lang="en-US" noProof="0" dirty="0"/>
          </a:p>
        </p:txBody>
      </p:sp>
      <p:sp>
        <p:nvSpPr>
          <p:cNvPr id="3" name="Marcador de contenido 2">
            <a:extLst>
              <a:ext uri="{FF2B5EF4-FFF2-40B4-BE49-F238E27FC236}">
                <a16:creationId xmlns:a16="http://schemas.microsoft.com/office/drawing/2014/main" id="{8A07B11D-2771-2232-953E-D4F1201334DC}"/>
              </a:ext>
            </a:extLst>
          </p:cNvPr>
          <p:cNvSpPr>
            <a:spLocks noGrp="1"/>
          </p:cNvSpPr>
          <p:nvPr>
            <p:ph idx="1"/>
          </p:nvPr>
        </p:nvSpPr>
        <p:spPr/>
        <p:txBody>
          <a:bodyPr/>
          <a:lstStyle/>
          <a:p>
            <a:r>
              <a:rPr lang="en-US" noProof="0" dirty="0" err="1"/>
              <a:t>Objetivo</a:t>
            </a:r>
            <a:r>
              <a:rPr lang="en-US" noProof="0" dirty="0"/>
              <a:t> general</a:t>
            </a:r>
          </a:p>
          <a:p>
            <a:pPr lvl="1"/>
            <a:r>
              <a:rPr lang="en-US" noProof="0" dirty="0" err="1"/>
              <a:t>Estudiar</a:t>
            </a:r>
            <a:r>
              <a:rPr lang="en-US" noProof="0" dirty="0"/>
              <a:t> </a:t>
            </a:r>
            <a:r>
              <a:rPr lang="en-US" noProof="0" dirty="0" err="1"/>
              <a:t>los</a:t>
            </a:r>
            <a:r>
              <a:rPr lang="en-US" noProof="0" dirty="0"/>
              <a:t> puntos de </a:t>
            </a:r>
            <a:r>
              <a:rPr lang="en-US" noProof="0" dirty="0" err="1"/>
              <a:t>fusión</a:t>
            </a:r>
            <a:r>
              <a:rPr lang="en-US" noProof="0" dirty="0"/>
              <a:t> de </a:t>
            </a:r>
            <a:r>
              <a:rPr lang="en-US" noProof="0" dirty="0" err="1"/>
              <a:t>diferentes</a:t>
            </a:r>
            <a:r>
              <a:rPr lang="en-US" noProof="0" dirty="0"/>
              <a:t> </a:t>
            </a:r>
            <a:r>
              <a:rPr lang="en-US" noProof="0" dirty="0" err="1"/>
              <a:t>mezclas</a:t>
            </a:r>
            <a:r>
              <a:rPr lang="en-US" noProof="0" dirty="0"/>
              <a:t> </a:t>
            </a:r>
            <a:r>
              <a:rPr lang="en-US" noProof="0" dirty="0" err="1"/>
              <a:t>eutécticas</a:t>
            </a:r>
            <a:r>
              <a:rPr lang="en-US" noProof="0" dirty="0"/>
              <a:t> a </a:t>
            </a:r>
            <a:r>
              <a:rPr lang="en-US" noProof="0" dirty="0" err="1"/>
              <a:t>temperatura</a:t>
            </a:r>
            <a:r>
              <a:rPr lang="en-US" noProof="0" dirty="0"/>
              <a:t> </a:t>
            </a:r>
            <a:r>
              <a:rPr lang="en-US" noProof="0" dirty="0" err="1"/>
              <a:t>ambiente</a:t>
            </a:r>
            <a:r>
              <a:rPr lang="en-US" noProof="0" dirty="0"/>
              <a:t> </a:t>
            </a:r>
            <a:r>
              <a:rPr lang="en-US" noProof="0" dirty="0" err="1"/>
              <a:t>empleando</a:t>
            </a:r>
            <a:r>
              <a:rPr lang="en-US" noProof="0" dirty="0"/>
              <a:t> un </a:t>
            </a:r>
            <a:r>
              <a:rPr lang="en-US" noProof="0" dirty="0" err="1"/>
              <a:t>dispositivo</a:t>
            </a:r>
            <a:r>
              <a:rPr lang="en-US" noProof="0" dirty="0"/>
              <a:t> low cost opensource</a:t>
            </a:r>
          </a:p>
          <a:p>
            <a:r>
              <a:rPr lang="en-US" noProof="0" dirty="0" err="1"/>
              <a:t>Objetivos</a:t>
            </a:r>
            <a:r>
              <a:rPr lang="en-US" noProof="0" dirty="0"/>
              <a:t> </a:t>
            </a:r>
            <a:r>
              <a:rPr lang="en-US" noProof="0" dirty="0" err="1"/>
              <a:t>específicos</a:t>
            </a:r>
            <a:endParaRPr lang="en-US" noProof="0" dirty="0"/>
          </a:p>
          <a:p>
            <a:pPr lvl="1"/>
            <a:r>
              <a:rPr lang="en-US" noProof="0" dirty="0" err="1"/>
              <a:t>Montar</a:t>
            </a:r>
            <a:r>
              <a:rPr lang="en-US" noProof="0" dirty="0"/>
              <a:t> un </a:t>
            </a:r>
            <a:r>
              <a:rPr lang="en-US" noProof="0" dirty="0" err="1"/>
              <a:t>dispositivo</a:t>
            </a:r>
            <a:r>
              <a:rPr lang="en-US" noProof="0" dirty="0"/>
              <a:t> low cost que </a:t>
            </a:r>
            <a:r>
              <a:rPr lang="en-US" noProof="0" dirty="0" err="1"/>
              <a:t>permita</a:t>
            </a:r>
            <a:r>
              <a:rPr lang="en-US" noProof="0" dirty="0"/>
              <a:t> </a:t>
            </a:r>
            <a:r>
              <a:rPr lang="en-US" noProof="0" dirty="0" err="1"/>
              <a:t>determinar</a:t>
            </a:r>
            <a:r>
              <a:rPr lang="en-US" noProof="0" dirty="0"/>
              <a:t> </a:t>
            </a:r>
            <a:r>
              <a:rPr lang="en-US" noProof="0" dirty="0" err="1"/>
              <a:t>los</a:t>
            </a:r>
            <a:r>
              <a:rPr lang="en-US" noProof="0" dirty="0"/>
              <a:t> puntos de </a:t>
            </a:r>
            <a:r>
              <a:rPr lang="en-US" noProof="0" dirty="0" err="1"/>
              <a:t>fusión</a:t>
            </a:r>
            <a:r>
              <a:rPr lang="en-US" noProof="0" dirty="0"/>
              <a:t> </a:t>
            </a:r>
          </a:p>
          <a:p>
            <a:pPr lvl="1"/>
            <a:r>
              <a:rPr lang="en-US" noProof="0" dirty="0" err="1"/>
              <a:t>Obtener</a:t>
            </a:r>
            <a:r>
              <a:rPr lang="en-US" noProof="0" dirty="0"/>
              <a:t> </a:t>
            </a:r>
            <a:r>
              <a:rPr lang="en-US" noProof="0" dirty="0" err="1"/>
              <a:t>los</a:t>
            </a:r>
            <a:r>
              <a:rPr lang="en-US" noProof="0" dirty="0"/>
              <a:t> puntos de </a:t>
            </a:r>
            <a:r>
              <a:rPr lang="en-US" noProof="0" dirty="0" err="1"/>
              <a:t>fusión</a:t>
            </a:r>
            <a:r>
              <a:rPr lang="en-US" noProof="0" dirty="0"/>
              <a:t> a </a:t>
            </a:r>
            <a:r>
              <a:rPr lang="en-US" noProof="0" dirty="0" err="1"/>
              <a:t>partir</a:t>
            </a:r>
            <a:r>
              <a:rPr lang="en-US" noProof="0" dirty="0"/>
              <a:t> del </a:t>
            </a:r>
            <a:r>
              <a:rPr lang="en-US" noProof="0" dirty="0" err="1"/>
              <a:t>procesamiento</a:t>
            </a:r>
            <a:r>
              <a:rPr lang="en-US" noProof="0" dirty="0"/>
              <a:t> de </a:t>
            </a:r>
            <a:r>
              <a:rPr lang="en-US" noProof="0" dirty="0" err="1"/>
              <a:t>imágenes</a:t>
            </a:r>
            <a:r>
              <a:rPr lang="en-US" noProof="0" dirty="0"/>
              <a:t>.</a:t>
            </a:r>
          </a:p>
          <a:p>
            <a:pPr lvl="1"/>
            <a:r>
              <a:rPr lang="en-US" noProof="0" dirty="0" err="1"/>
              <a:t>Modelar</a:t>
            </a:r>
            <a:r>
              <a:rPr lang="en-US" noProof="0" dirty="0"/>
              <a:t> </a:t>
            </a:r>
            <a:r>
              <a:rPr lang="en-US" noProof="0" dirty="0" err="1"/>
              <a:t>el</a:t>
            </a:r>
            <a:r>
              <a:rPr lang="en-US" noProof="0" dirty="0"/>
              <a:t> </a:t>
            </a:r>
            <a:r>
              <a:rPr lang="en-US" noProof="0" dirty="0" err="1"/>
              <a:t>comportamiento</a:t>
            </a:r>
            <a:r>
              <a:rPr lang="en-US" noProof="0" dirty="0"/>
              <a:t> </a:t>
            </a:r>
            <a:r>
              <a:rPr lang="en-US" noProof="0" dirty="0" err="1"/>
              <a:t>eutéctico</a:t>
            </a:r>
            <a:r>
              <a:rPr lang="en-US" noProof="0" dirty="0"/>
              <a:t> de </a:t>
            </a:r>
            <a:r>
              <a:rPr lang="en-US" noProof="0" dirty="0" err="1"/>
              <a:t>los</a:t>
            </a:r>
            <a:r>
              <a:rPr lang="en-US" noProof="0" dirty="0"/>
              <a:t> DES</a:t>
            </a:r>
          </a:p>
          <a:p>
            <a:endParaRPr lang="en-US" noProof="0" dirty="0"/>
          </a:p>
          <a:p>
            <a:endParaRPr lang="en-US" noProof="0" dirty="0"/>
          </a:p>
        </p:txBody>
      </p:sp>
    </p:spTree>
    <p:extLst>
      <p:ext uri="{BB962C8B-B14F-4D97-AF65-F5344CB8AC3E}">
        <p14:creationId xmlns:p14="http://schemas.microsoft.com/office/powerpoint/2010/main" val="786814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A08074-0B55-6BC3-9C10-3C3FF3C135D4}"/>
              </a:ext>
            </a:extLst>
          </p:cNvPr>
          <p:cNvSpPr>
            <a:spLocks noGrp="1"/>
          </p:cNvSpPr>
          <p:nvPr>
            <p:ph type="title"/>
          </p:nvPr>
        </p:nvSpPr>
        <p:spPr/>
        <p:txBody>
          <a:bodyPr/>
          <a:lstStyle/>
          <a:p>
            <a:r>
              <a:rPr lang="en-US" noProof="0" dirty="0"/>
              <a:t>Introduction </a:t>
            </a:r>
          </a:p>
        </p:txBody>
      </p:sp>
      <p:sp>
        <p:nvSpPr>
          <p:cNvPr id="3" name="Marcador de contenido 2">
            <a:extLst>
              <a:ext uri="{FF2B5EF4-FFF2-40B4-BE49-F238E27FC236}">
                <a16:creationId xmlns:a16="http://schemas.microsoft.com/office/drawing/2014/main" id="{138E32C9-9B33-74CE-0D62-F6EDEFC7DB18}"/>
              </a:ext>
            </a:extLst>
          </p:cNvPr>
          <p:cNvSpPr>
            <a:spLocks noGrp="1"/>
          </p:cNvSpPr>
          <p:nvPr>
            <p:ph idx="1"/>
          </p:nvPr>
        </p:nvSpPr>
        <p:spPr>
          <a:xfrm>
            <a:off x="838200" y="1825625"/>
            <a:ext cx="10515600" cy="1325563"/>
          </a:xfrm>
        </p:spPr>
        <p:txBody>
          <a:bodyPr/>
          <a:lstStyle/>
          <a:p>
            <a:pPr marL="0" indent="0">
              <a:buNone/>
            </a:pPr>
            <a:r>
              <a:rPr lang="en-US" noProof="0" dirty="0"/>
              <a:t>Determine the melting point of Deep eutectic solvents at ambient temperature is crucial for designing new and enhanced extraction processes. </a:t>
            </a:r>
          </a:p>
        </p:txBody>
      </p:sp>
      <p:pic>
        <p:nvPicPr>
          <p:cNvPr id="5" name="Imagen 4" descr="Diagrama&#10;&#10;El contenido generado por IA puede ser incorrecto.">
            <a:extLst>
              <a:ext uri="{FF2B5EF4-FFF2-40B4-BE49-F238E27FC236}">
                <a16:creationId xmlns:a16="http://schemas.microsoft.com/office/drawing/2014/main" id="{CD9483F2-1EA5-0F04-B6AB-A5BE0669A9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453" y="3706813"/>
            <a:ext cx="3219548" cy="2291560"/>
          </a:xfrm>
          <a:prstGeom prst="rect">
            <a:avLst/>
          </a:prstGeom>
        </p:spPr>
      </p:pic>
      <p:pic>
        <p:nvPicPr>
          <p:cNvPr id="9" name="Imagen 8" descr="Diagrama&#10;&#10;El contenido generado por IA puede ser incorrecto.">
            <a:extLst>
              <a:ext uri="{FF2B5EF4-FFF2-40B4-BE49-F238E27FC236}">
                <a16:creationId xmlns:a16="http://schemas.microsoft.com/office/drawing/2014/main" id="{EA80A3FC-974F-11DF-9FCA-1C54F4DD52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8227" y="3461493"/>
            <a:ext cx="5092228" cy="2576068"/>
          </a:xfrm>
          <a:prstGeom prst="rect">
            <a:avLst/>
          </a:prstGeom>
        </p:spPr>
      </p:pic>
      <p:sp>
        <p:nvSpPr>
          <p:cNvPr id="10" name="Flecha: a la derecha 9">
            <a:extLst>
              <a:ext uri="{FF2B5EF4-FFF2-40B4-BE49-F238E27FC236}">
                <a16:creationId xmlns:a16="http://schemas.microsoft.com/office/drawing/2014/main" id="{97DBE983-0EDF-6A14-D099-44B13CE41C7F}"/>
              </a:ext>
            </a:extLst>
          </p:cNvPr>
          <p:cNvSpPr/>
          <p:nvPr/>
        </p:nvSpPr>
        <p:spPr>
          <a:xfrm>
            <a:off x="4867415" y="4588628"/>
            <a:ext cx="837398" cy="5279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316819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Imagen que contiene electrónica, circuito&#10;&#10;El contenido generado por IA puede ser incorrecto.">
            <a:extLst>
              <a:ext uri="{FF2B5EF4-FFF2-40B4-BE49-F238E27FC236}">
                <a16:creationId xmlns:a16="http://schemas.microsoft.com/office/drawing/2014/main" id="{7EF96E8C-0B2C-F74D-BB42-ABC7BECA7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381" y="3640053"/>
            <a:ext cx="2652883" cy="2652883"/>
          </a:xfrm>
          <a:prstGeom prst="rect">
            <a:avLst/>
          </a:prstGeom>
        </p:spPr>
      </p:pic>
      <p:pic>
        <p:nvPicPr>
          <p:cNvPr id="9" name="Imagen 8" descr="Imagen que contiene electrónica, circuito&#10;&#10;El contenido generado por IA puede ser incorrecto.">
            <a:extLst>
              <a:ext uri="{FF2B5EF4-FFF2-40B4-BE49-F238E27FC236}">
                <a16:creationId xmlns:a16="http://schemas.microsoft.com/office/drawing/2014/main" id="{97F4D2EF-94F5-107F-44F4-85D648F79E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355" y="1690688"/>
            <a:ext cx="1842725" cy="1577373"/>
          </a:xfrm>
          <a:prstGeom prst="rect">
            <a:avLst/>
          </a:prstGeom>
        </p:spPr>
      </p:pic>
      <p:pic>
        <p:nvPicPr>
          <p:cNvPr id="11" name="Imagen 10" descr="Cable de color negro&#10;&#10;El contenido generado por IA puede ser incorrecto.">
            <a:extLst>
              <a:ext uri="{FF2B5EF4-FFF2-40B4-BE49-F238E27FC236}">
                <a16:creationId xmlns:a16="http://schemas.microsoft.com/office/drawing/2014/main" id="{C65CBFF5-6FB5-EDC9-3116-FEE9378C15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09931" y="2361991"/>
            <a:ext cx="3146758" cy="2787917"/>
          </a:xfrm>
          <a:prstGeom prst="rect">
            <a:avLst/>
          </a:prstGeom>
        </p:spPr>
      </p:pic>
      <p:sp>
        <p:nvSpPr>
          <p:cNvPr id="12" name="Título 11">
            <a:extLst>
              <a:ext uri="{FF2B5EF4-FFF2-40B4-BE49-F238E27FC236}">
                <a16:creationId xmlns:a16="http://schemas.microsoft.com/office/drawing/2014/main" id="{105E7427-FE3F-4912-E835-FA2B712E879D}"/>
              </a:ext>
            </a:extLst>
          </p:cNvPr>
          <p:cNvSpPr>
            <a:spLocks noGrp="1"/>
          </p:cNvSpPr>
          <p:nvPr>
            <p:ph type="title"/>
          </p:nvPr>
        </p:nvSpPr>
        <p:spPr/>
        <p:txBody>
          <a:bodyPr/>
          <a:lstStyle/>
          <a:p>
            <a:r>
              <a:rPr lang="en-US" noProof="0" dirty="0"/>
              <a:t>Methodology (hardware)</a:t>
            </a:r>
          </a:p>
        </p:txBody>
      </p:sp>
      <p:pic>
        <p:nvPicPr>
          <p:cNvPr id="14" name="Imagen 13" descr="Diagrama&#10;&#10;El contenido generado por IA puede ser incorrecto.">
            <a:extLst>
              <a:ext uri="{FF2B5EF4-FFF2-40B4-BE49-F238E27FC236}">
                <a16:creationId xmlns:a16="http://schemas.microsoft.com/office/drawing/2014/main" id="{591C75C5-0E63-4174-6322-CD47EA9D68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5457" y="928371"/>
            <a:ext cx="2125218" cy="2339690"/>
          </a:xfrm>
          <a:prstGeom prst="rect">
            <a:avLst/>
          </a:prstGeom>
        </p:spPr>
      </p:pic>
      <p:pic>
        <p:nvPicPr>
          <p:cNvPr id="18" name="Imagen 17" descr="Interfaz de usuario gráfica&#10;&#10;El contenido generado por IA puede ser incorrecto.">
            <a:extLst>
              <a:ext uri="{FF2B5EF4-FFF2-40B4-BE49-F238E27FC236}">
                <a16:creationId xmlns:a16="http://schemas.microsoft.com/office/drawing/2014/main" id="{F3214BF3-DB9B-82B1-4427-5BB4436891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66838" y="3577317"/>
            <a:ext cx="2194560" cy="3075127"/>
          </a:xfrm>
          <a:prstGeom prst="rect">
            <a:avLst/>
          </a:prstGeom>
        </p:spPr>
      </p:pic>
      <p:pic>
        <p:nvPicPr>
          <p:cNvPr id="20" name="Imagen 19" descr="Imagen que contiene cepillo&#10;&#10;El contenido generado por IA puede ser incorrecto.">
            <a:extLst>
              <a:ext uri="{FF2B5EF4-FFF2-40B4-BE49-F238E27FC236}">
                <a16:creationId xmlns:a16="http://schemas.microsoft.com/office/drawing/2014/main" id="{8C3DA10D-927B-D274-5824-B028AE031A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39443" y="1407812"/>
            <a:ext cx="2143125" cy="2143125"/>
          </a:xfrm>
          <a:prstGeom prst="rect">
            <a:avLst/>
          </a:prstGeom>
        </p:spPr>
      </p:pic>
    </p:spTree>
    <p:extLst>
      <p:ext uri="{BB962C8B-B14F-4D97-AF65-F5344CB8AC3E}">
        <p14:creationId xmlns:p14="http://schemas.microsoft.com/office/powerpoint/2010/main" val="2491259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1B22B-AEBE-F98A-B7C6-A00BD59680B7}"/>
            </a:ext>
          </a:extLst>
        </p:cNvPr>
        <p:cNvGrpSpPr/>
        <p:nvPr/>
      </p:nvGrpSpPr>
      <p:grpSpPr>
        <a:xfrm>
          <a:off x="0" y="0"/>
          <a:ext cx="0" cy="0"/>
          <a:chOff x="0" y="0"/>
          <a:chExt cx="0" cy="0"/>
        </a:xfrm>
      </p:grpSpPr>
      <p:sp>
        <p:nvSpPr>
          <p:cNvPr id="12" name="Título 11">
            <a:extLst>
              <a:ext uri="{FF2B5EF4-FFF2-40B4-BE49-F238E27FC236}">
                <a16:creationId xmlns:a16="http://schemas.microsoft.com/office/drawing/2014/main" id="{AE2A4077-3160-AC69-1CEE-5B802BCE829B}"/>
              </a:ext>
            </a:extLst>
          </p:cNvPr>
          <p:cNvSpPr>
            <a:spLocks noGrp="1"/>
          </p:cNvSpPr>
          <p:nvPr>
            <p:ph type="title"/>
          </p:nvPr>
        </p:nvSpPr>
        <p:spPr/>
        <p:txBody>
          <a:bodyPr/>
          <a:lstStyle/>
          <a:p>
            <a:r>
              <a:rPr lang="en-US" noProof="0" dirty="0"/>
              <a:t>Methodology (hardware)</a:t>
            </a:r>
          </a:p>
        </p:txBody>
      </p:sp>
      <p:sp>
        <p:nvSpPr>
          <p:cNvPr id="2" name="CuadroTexto 1">
            <a:extLst>
              <a:ext uri="{FF2B5EF4-FFF2-40B4-BE49-F238E27FC236}">
                <a16:creationId xmlns:a16="http://schemas.microsoft.com/office/drawing/2014/main" id="{DC36CE54-CAD1-4FF3-853D-03F354E4E5A3}"/>
              </a:ext>
            </a:extLst>
          </p:cNvPr>
          <p:cNvSpPr txBox="1"/>
          <p:nvPr/>
        </p:nvSpPr>
        <p:spPr>
          <a:xfrm>
            <a:off x="923544" y="1408700"/>
            <a:ext cx="6236208" cy="369332"/>
          </a:xfrm>
          <a:prstGeom prst="rect">
            <a:avLst/>
          </a:prstGeom>
          <a:noFill/>
        </p:spPr>
        <p:txBody>
          <a:bodyPr wrap="square" rtlCol="0">
            <a:spAutoFit/>
          </a:bodyPr>
          <a:lstStyle/>
          <a:p>
            <a:r>
              <a:rPr lang="en-US" noProof="0" dirty="0"/>
              <a:t>Add the 3D model from </a:t>
            </a:r>
            <a:r>
              <a:rPr lang="en-US" noProof="0" dirty="0" err="1"/>
              <a:t>fusión</a:t>
            </a:r>
            <a:r>
              <a:rPr lang="en-US" noProof="0" dirty="0"/>
              <a:t> 360</a:t>
            </a:r>
          </a:p>
        </p:txBody>
      </p:sp>
      <p:pic>
        <p:nvPicPr>
          <p:cNvPr id="4" name="Imagen 3" descr="Imagen que contiene interior, gato, pequeño, cocina&#10;&#10;El contenido generado por IA puede ser incorrecto.">
            <a:extLst>
              <a:ext uri="{FF2B5EF4-FFF2-40B4-BE49-F238E27FC236}">
                <a16:creationId xmlns:a16="http://schemas.microsoft.com/office/drawing/2014/main" id="{B15A0B39-C2B9-0A33-47E0-6E32486182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8392" y="0"/>
            <a:ext cx="1627632" cy="2906486"/>
          </a:xfrm>
          <a:prstGeom prst="rect">
            <a:avLst/>
          </a:prstGeom>
        </p:spPr>
      </p:pic>
      <p:pic>
        <p:nvPicPr>
          <p:cNvPr id="6" name="Imagen 5" descr="Logotipo&#10;&#10;El contenido generado por IA puede ser incorrecto.">
            <a:extLst>
              <a:ext uri="{FF2B5EF4-FFF2-40B4-BE49-F238E27FC236}">
                <a16:creationId xmlns:a16="http://schemas.microsoft.com/office/drawing/2014/main" id="{2E9E469A-8399-C7D5-5F33-F695E8ABEC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945" y="1940746"/>
            <a:ext cx="809244" cy="809244"/>
          </a:xfrm>
          <a:prstGeom prst="rect">
            <a:avLst/>
          </a:prstGeom>
        </p:spPr>
      </p:pic>
      <p:pic>
        <p:nvPicPr>
          <p:cNvPr id="10" name="Imagen 9" descr="Un letrero azul con letras blancas&#10;&#10;El contenido generado por IA puede ser incorrecto.">
            <a:extLst>
              <a:ext uri="{FF2B5EF4-FFF2-40B4-BE49-F238E27FC236}">
                <a16:creationId xmlns:a16="http://schemas.microsoft.com/office/drawing/2014/main" id="{F2966947-18C0-843F-D645-7486573CB5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6881" y="1940746"/>
            <a:ext cx="952479" cy="952479"/>
          </a:xfrm>
          <a:prstGeom prst="rect">
            <a:avLst/>
          </a:prstGeom>
        </p:spPr>
      </p:pic>
    </p:spTree>
    <p:extLst>
      <p:ext uri="{BB962C8B-B14F-4D97-AF65-F5344CB8AC3E}">
        <p14:creationId xmlns:p14="http://schemas.microsoft.com/office/powerpoint/2010/main" val="118480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D19BB5-CF11-27EF-5571-106BC2D8824D}"/>
              </a:ext>
            </a:extLst>
          </p:cNvPr>
          <p:cNvSpPr>
            <a:spLocks noGrp="1"/>
          </p:cNvSpPr>
          <p:nvPr>
            <p:ph type="title"/>
          </p:nvPr>
        </p:nvSpPr>
        <p:spPr/>
        <p:txBody>
          <a:bodyPr/>
          <a:lstStyle/>
          <a:p>
            <a:r>
              <a:rPr lang="en-US" noProof="0" dirty="0"/>
              <a:t>Methodology (firmware)</a:t>
            </a:r>
          </a:p>
        </p:txBody>
      </p:sp>
      <p:sp>
        <p:nvSpPr>
          <p:cNvPr id="3" name="Marcador de contenido 2">
            <a:extLst>
              <a:ext uri="{FF2B5EF4-FFF2-40B4-BE49-F238E27FC236}">
                <a16:creationId xmlns:a16="http://schemas.microsoft.com/office/drawing/2014/main" id="{44FA8A39-DD6E-F126-14ED-9FA2817E397A}"/>
              </a:ext>
            </a:extLst>
          </p:cNvPr>
          <p:cNvSpPr>
            <a:spLocks noGrp="1"/>
          </p:cNvSpPr>
          <p:nvPr>
            <p:ph idx="1"/>
          </p:nvPr>
        </p:nvSpPr>
        <p:spPr/>
        <p:txBody>
          <a:bodyPr/>
          <a:lstStyle/>
          <a:p>
            <a:r>
              <a:rPr lang="en-US" noProof="0" dirty="0" err="1"/>
              <a:t>PlatformIO</a:t>
            </a:r>
            <a:endParaRPr lang="en-US" noProof="0" dirty="0"/>
          </a:p>
          <a:p>
            <a:r>
              <a:rPr lang="en-US" noProof="0" dirty="0"/>
              <a:t>GitHub repository </a:t>
            </a:r>
          </a:p>
          <a:p>
            <a:r>
              <a:rPr lang="en-US" noProof="0" dirty="0" err="1"/>
              <a:t>Datails</a:t>
            </a:r>
            <a:r>
              <a:rPr lang="en-US" noProof="0" dirty="0"/>
              <a:t> about how the firmware Works based on OOP. </a:t>
            </a:r>
          </a:p>
          <a:p>
            <a:pPr marL="0" indent="0">
              <a:buNone/>
            </a:pPr>
            <a:endParaRPr lang="en-US" noProof="0" dirty="0"/>
          </a:p>
        </p:txBody>
      </p:sp>
    </p:spTree>
    <p:extLst>
      <p:ext uri="{BB962C8B-B14F-4D97-AF65-F5344CB8AC3E}">
        <p14:creationId xmlns:p14="http://schemas.microsoft.com/office/powerpoint/2010/main" val="2245102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226F4-8492-645A-FEAF-B654EF1388D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7F608E-6437-E859-C5F2-C8F429E91ED5}"/>
              </a:ext>
            </a:extLst>
          </p:cNvPr>
          <p:cNvSpPr>
            <a:spLocks noGrp="1"/>
          </p:cNvSpPr>
          <p:nvPr>
            <p:ph type="title"/>
          </p:nvPr>
        </p:nvSpPr>
        <p:spPr/>
        <p:txBody>
          <a:bodyPr/>
          <a:lstStyle/>
          <a:p>
            <a:pPr algn="ctr"/>
            <a:r>
              <a:rPr lang="en-US" dirty="0"/>
              <a:t>I</a:t>
            </a:r>
            <a:r>
              <a:rPr lang="en-US" noProof="0" dirty="0"/>
              <a:t>mage processing</a:t>
            </a:r>
            <a:r>
              <a:rPr lang="en-US" dirty="0"/>
              <a:t> </a:t>
            </a:r>
            <a:r>
              <a:rPr lang="en-US" noProof="0" dirty="0"/>
              <a:t>pipeline</a:t>
            </a:r>
          </a:p>
        </p:txBody>
      </p:sp>
      <p:pic>
        <p:nvPicPr>
          <p:cNvPr id="5" name="Gráfico 4">
            <a:extLst>
              <a:ext uri="{FF2B5EF4-FFF2-40B4-BE49-F238E27FC236}">
                <a16:creationId xmlns:a16="http://schemas.microsoft.com/office/drawing/2014/main" id="{2182E78E-4E35-57CD-1B4C-DEF2D61A67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50165" y="169501"/>
            <a:ext cx="577398" cy="763996"/>
          </a:xfrm>
          <a:prstGeom prst="rect">
            <a:avLst/>
          </a:prstGeom>
        </p:spPr>
      </p:pic>
      <p:pic>
        <p:nvPicPr>
          <p:cNvPr id="7" name="Imagen 6" descr="Imagen que contiene Logotipo&#10;&#10;El contenido generado por IA puede ser incorrecto.">
            <a:extLst>
              <a:ext uri="{FF2B5EF4-FFF2-40B4-BE49-F238E27FC236}">
                <a16:creationId xmlns:a16="http://schemas.microsoft.com/office/drawing/2014/main" id="{C3CD9A5A-B9B9-9227-61D4-D241537C6E0C}"/>
              </a:ext>
            </a:extLst>
          </p:cNvPr>
          <p:cNvPicPr>
            <a:picLocks noChangeAspect="1"/>
          </p:cNvPicPr>
          <p:nvPr/>
        </p:nvPicPr>
        <p:blipFill>
          <a:blip r:embed="rId4">
            <a:extLst>
              <a:ext uri="{28A0092B-C50C-407E-A947-70E740481C1C}">
                <a14:useLocalDpi xmlns:a14="http://schemas.microsoft.com/office/drawing/2010/main" val="0"/>
              </a:ext>
            </a:extLst>
          </a:blip>
          <a:srcRect l="21450" r="17650"/>
          <a:stretch>
            <a:fillRect/>
          </a:stretch>
        </p:blipFill>
        <p:spPr>
          <a:xfrm>
            <a:off x="115847" y="203328"/>
            <a:ext cx="786384" cy="726340"/>
          </a:xfrm>
          <a:prstGeom prst="rect">
            <a:avLst/>
          </a:prstGeom>
        </p:spPr>
      </p:pic>
      <p:pic>
        <p:nvPicPr>
          <p:cNvPr id="9" name="Imagen 8" descr="Un dibujo de una cara feliz&#10;&#10;El contenido generado por IA puede ser incorrecto.">
            <a:extLst>
              <a:ext uri="{FF2B5EF4-FFF2-40B4-BE49-F238E27FC236}">
                <a16:creationId xmlns:a16="http://schemas.microsoft.com/office/drawing/2014/main" id="{DC9C6361-EBA5-1DBB-1122-0F560393FE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80382" y="602020"/>
            <a:ext cx="1445896" cy="722948"/>
          </a:xfrm>
          <a:prstGeom prst="rect">
            <a:avLst/>
          </a:prstGeom>
        </p:spPr>
      </p:pic>
      <p:pic>
        <p:nvPicPr>
          <p:cNvPr id="11" name="Imagen 10" descr="Logotipo&#10;&#10;El contenido generado por IA puede ser incorrecto.">
            <a:extLst>
              <a:ext uri="{FF2B5EF4-FFF2-40B4-BE49-F238E27FC236}">
                <a16:creationId xmlns:a16="http://schemas.microsoft.com/office/drawing/2014/main" id="{1AF00D21-6B73-6B5E-F411-0EB731A7FA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34751" y="86739"/>
            <a:ext cx="2296175" cy="551082"/>
          </a:xfrm>
          <a:prstGeom prst="rect">
            <a:avLst/>
          </a:prstGeom>
        </p:spPr>
      </p:pic>
      <p:pic>
        <p:nvPicPr>
          <p:cNvPr id="13" name="Imagen 12" descr="Logotipo&#10;&#10;El contenido generado por IA puede ser incorrecto.">
            <a:extLst>
              <a:ext uri="{FF2B5EF4-FFF2-40B4-BE49-F238E27FC236}">
                <a16:creationId xmlns:a16="http://schemas.microsoft.com/office/drawing/2014/main" id="{74841BBE-6920-4B7D-24BA-9E0D401B679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47186" y="169501"/>
            <a:ext cx="793993" cy="793993"/>
          </a:xfrm>
          <a:prstGeom prst="rect">
            <a:avLst/>
          </a:prstGeom>
        </p:spPr>
      </p:pic>
      <p:sp>
        <p:nvSpPr>
          <p:cNvPr id="14" name="Rectángulo 13">
            <a:extLst>
              <a:ext uri="{FF2B5EF4-FFF2-40B4-BE49-F238E27FC236}">
                <a16:creationId xmlns:a16="http://schemas.microsoft.com/office/drawing/2014/main" id="{AC6A421B-1337-6C81-7109-BF836F608CB4}"/>
              </a:ext>
            </a:extLst>
          </p:cNvPr>
          <p:cNvSpPr/>
          <p:nvPr/>
        </p:nvSpPr>
        <p:spPr>
          <a:xfrm>
            <a:off x="4699625" y="2829078"/>
            <a:ext cx="420624" cy="3724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4AEC5621-BF0E-368D-DE3F-59F23736BEB0}"/>
              </a:ext>
            </a:extLst>
          </p:cNvPr>
          <p:cNvSpPr/>
          <p:nvPr/>
        </p:nvSpPr>
        <p:spPr>
          <a:xfrm>
            <a:off x="5517626" y="2829078"/>
            <a:ext cx="420624" cy="3724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6" name="Rectángulo 15">
            <a:extLst>
              <a:ext uri="{FF2B5EF4-FFF2-40B4-BE49-F238E27FC236}">
                <a16:creationId xmlns:a16="http://schemas.microsoft.com/office/drawing/2014/main" id="{34520726-30CD-55A7-2B73-70588F3B1CB9}"/>
              </a:ext>
            </a:extLst>
          </p:cNvPr>
          <p:cNvSpPr/>
          <p:nvPr/>
        </p:nvSpPr>
        <p:spPr>
          <a:xfrm>
            <a:off x="6312381" y="2829078"/>
            <a:ext cx="420624" cy="3724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70A5F48B-8F28-5CF4-61F8-B38D1AAED946}"/>
              </a:ext>
            </a:extLst>
          </p:cNvPr>
          <p:cNvSpPr/>
          <p:nvPr/>
        </p:nvSpPr>
        <p:spPr>
          <a:xfrm>
            <a:off x="7107136" y="2829078"/>
            <a:ext cx="420624" cy="3724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21" name="Conector recto de flecha 20">
            <a:extLst>
              <a:ext uri="{FF2B5EF4-FFF2-40B4-BE49-F238E27FC236}">
                <a16:creationId xmlns:a16="http://schemas.microsoft.com/office/drawing/2014/main" id="{324525B7-A6A6-4A03-335E-79BF66466C8B}"/>
              </a:ext>
            </a:extLst>
          </p:cNvPr>
          <p:cNvCxnSpPr>
            <a:stCxn id="14" idx="3"/>
            <a:endCxn id="15" idx="1"/>
          </p:cNvCxnSpPr>
          <p:nvPr/>
        </p:nvCxnSpPr>
        <p:spPr>
          <a:xfrm>
            <a:off x="5120249" y="3015310"/>
            <a:ext cx="3973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Conector recto de flecha 25">
            <a:extLst>
              <a:ext uri="{FF2B5EF4-FFF2-40B4-BE49-F238E27FC236}">
                <a16:creationId xmlns:a16="http://schemas.microsoft.com/office/drawing/2014/main" id="{6249150E-1044-BA3B-9939-746DCFE3B226}"/>
              </a:ext>
            </a:extLst>
          </p:cNvPr>
          <p:cNvCxnSpPr>
            <a:stCxn id="15" idx="3"/>
            <a:endCxn id="16" idx="1"/>
          </p:cNvCxnSpPr>
          <p:nvPr/>
        </p:nvCxnSpPr>
        <p:spPr>
          <a:xfrm>
            <a:off x="5938250" y="3015310"/>
            <a:ext cx="3741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ector recto de flecha 28">
            <a:extLst>
              <a:ext uri="{FF2B5EF4-FFF2-40B4-BE49-F238E27FC236}">
                <a16:creationId xmlns:a16="http://schemas.microsoft.com/office/drawing/2014/main" id="{E1E83C9D-0045-BEE6-4DDA-9E540565B934}"/>
              </a:ext>
            </a:extLst>
          </p:cNvPr>
          <p:cNvCxnSpPr>
            <a:stCxn id="16" idx="3"/>
            <a:endCxn id="18" idx="1"/>
          </p:cNvCxnSpPr>
          <p:nvPr/>
        </p:nvCxnSpPr>
        <p:spPr>
          <a:xfrm>
            <a:off x="6733005" y="3015310"/>
            <a:ext cx="3741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ector recto de flecha 31">
            <a:extLst>
              <a:ext uri="{FF2B5EF4-FFF2-40B4-BE49-F238E27FC236}">
                <a16:creationId xmlns:a16="http://schemas.microsoft.com/office/drawing/2014/main" id="{D335EBDF-675F-6B24-CE71-C3DC8CFF7F11}"/>
              </a:ext>
            </a:extLst>
          </p:cNvPr>
          <p:cNvCxnSpPr>
            <a:cxnSpLocks/>
            <a:stCxn id="18" idx="3"/>
          </p:cNvCxnSpPr>
          <p:nvPr/>
        </p:nvCxnSpPr>
        <p:spPr>
          <a:xfrm>
            <a:off x="7527760" y="3015310"/>
            <a:ext cx="58942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7" name="Rectángulo 56">
            <a:extLst>
              <a:ext uri="{FF2B5EF4-FFF2-40B4-BE49-F238E27FC236}">
                <a16:creationId xmlns:a16="http://schemas.microsoft.com/office/drawing/2014/main" id="{1BF68AE7-7005-7418-908B-1A95C3C22CF4}"/>
              </a:ext>
            </a:extLst>
          </p:cNvPr>
          <p:cNvSpPr/>
          <p:nvPr/>
        </p:nvSpPr>
        <p:spPr>
          <a:xfrm>
            <a:off x="2862433" y="2540283"/>
            <a:ext cx="4974336" cy="9149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3" name="Diagrama de flujo: proceso 62">
            <a:extLst>
              <a:ext uri="{FF2B5EF4-FFF2-40B4-BE49-F238E27FC236}">
                <a16:creationId xmlns:a16="http://schemas.microsoft.com/office/drawing/2014/main" id="{D94AB155-CDDE-C1FD-DD5D-8B3D62A3F3FE}"/>
              </a:ext>
            </a:extLst>
          </p:cNvPr>
          <p:cNvSpPr/>
          <p:nvPr/>
        </p:nvSpPr>
        <p:spPr>
          <a:xfrm>
            <a:off x="3161920" y="2728884"/>
            <a:ext cx="793993" cy="572851"/>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66" name="Conector recto de flecha 65">
            <a:extLst>
              <a:ext uri="{FF2B5EF4-FFF2-40B4-BE49-F238E27FC236}">
                <a16:creationId xmlns:a16="http://schemas.microsoft.com/office/drawing/2014/main" id="{F5F8CE50-3CE7-1636-0A4E-21871D8DDD16}"/>
              </a:ext>
            </a:extLst>
          </p:cNvPr>
          <p:cNvCxnSpPr>
            <a:stCxn id="63" idx="3"/>
            <a:endCxn id="14" idx="1"/>
          </p:cNvCxnSpPr>
          <p:nvPr/>
        </p:nvCxnSpPr>
        <p:spPr>
          <a:xfrm>
            <a:off x="3955913" y="3015310"/>
            <a:ext cx="7437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8" name="Conector recto de flecha 67">
            <a:extLst>
              <a:ext uri="{FF2B5EF4-FFF2-40B4-BE49-F238E27FC236}">
                <a16:creationId xmlns:a16="http://schemas.microsoft.com/office/drawing/2014/main" id="{632F54C5-7BDE-4BE0-EDE7-7C8DF99533E2}"/>
              </a:ext>
            </a:extLst>
          </p:cNvPr>
          <p:cNvCxnSpPr>
            <a:stCxn id="63" idx="2"/>
          </p:cNvCxnSpPr>
          <p:nvPr/>
        </p:nvCxnSpPr>
        <p:spPr>
          <a:xfrm flipH="1">
            <a:off x="3548232" y="3301735"/>
            <a:ext cx="10685" cy="4715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Conector recto de flecha 69">
            <a:extLst>
              <a:ext uri="{FF2B5EF4-FFF2-40B4-BE49-F238E27FC236}">
                <a16:creationId xmlns:a16="http://schemas.microsoft.com/office/drawing/2014/main" id="{A4EE736A-BCBC-D45D-7FC1-E8FBA8B686FA}"/>
              </a:ext>
            </a:extLst>
          </p:cNvPr>
          <p:cNvCxnSpPr>
            <a:endCxn id="63" idx="1"/>
          </p:cNvCxnSpPr>
          <p:nvPr/>
        </p:nvCxnSpPr>
        <p:spPr>
          <a:xfrm>
            <a:off x="1929744" y="3015310"/>
            <a:ext cx="123217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75" name="Imagen 74" descr="Imagen borrosa de una persona&#10;&#10;El contenido generado por IA puede ser incorrecto.">
            <a:extLst>
              <a:ext uri="{FF2B5EF4-FFF2-40B4-BE49-F238E27FC236}">
                <a16:creationId xmlns:a16="http://schemas.microsoft.com/office/drawing/2014/main" id="{F079C76D-6693-3E4F-91FB-52F6DF98A28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38244" y="4046235"/>
            <a:ext cx="1219976" cy="914982"/>
          </a:xfrm>
          <a:prstGeom prst="rect">
            <a:avLst/>
          </a:prstGeom>
        </p:spPr>
      </p:pic>
      <p:pic>
        <p:nvPicPr>
          <p:cNvPr id="79" name="Imagen 78" descr="Imagen en blanco y negro&#10;&#10;El contenido generado por IA puede ser incorrecto.">
            <a:extLst>
              <a:ext uri="{FF2B5EF4-FFF2-40B4-BE49-F238E27FC236}">
                <a16:creationId xmlns:a16="http://schemas.microsoft.com/office/drawing/2014/main" id="{AAEF000A-5885-C377-0F17-E36FBD9CA9B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18776" y="3773280"/>
            <a:ext cx="867925" cy="1301888"/>
          </a:xfrm>
          <a:prstGeom prst="rect">
            <a:avLst/>
          </a:prstGeom>
        </p:spPr>
      </p:pic>
      <p:pic>
        <p:nvPicPr>
          <p:cNvPr id="81" name="Imagen 80" descr="Imagen en blanco y negro&#10;&#10;El contenido generado por IA puede ser incorrecto.">
            <a:extLst>
              <a:ext uri="{FF2B5EF4-FFF2-40B4-BE49-F238E27FC236}">
                <a16:creationId xmlns:a16="http://schemas.microsoft.com/office/drawing/2014/main" id="{B0F3D0EA-3846-55DE-513F-12D7ABED240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08928" y="3773280"/>
            <a:ext cx="867925" cy="1301888"/>
          </a:xfrm>
          <a:prstGeom prst="rect">
            <a:avLst/>
          </a:prstGeom>
        </p:spPr>
      </p:pic>
      <p:pic>
        <p:nvPicPr>
          <p:cNvPr id="83" name="Imagen 82" descr="Imagen en blanco y negro&#10;&#10;El contenido generado por IA puede ser incorrecto.">
            <a:extLst>
              <a:ext uri="{FF2B5EF4-FFF2-40B4-BE49-F238E27FC236}">
                <a16:creationId xmlns:a16="http://schemas.microsoft.com/office/drawing/2014/main" id="{FBB1E0B7-231F-EF26-44EA-8A1346E376F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806157" y="3773280"/>
            <a:ext cx="867925" cy="1301888"/>
          </a:xfrm>
          <a:prstGeom prst="rect">
            <a:avLst/>
          </a:prstGeom>
        </p:spPr>
      </p:pic>
      <p:sp>
        <p:nvSpPr>
          <p:cNvPr id="84" name="Diagrama de flujo: disco magnético 83">
            <a:extLst>
              <a:ext uri="{FF2B5EF4-FFF2-40B4-BE49-F238E27FC236}">
                <a16:creationId xmlns:a16="http://schemas.microsoft.com/office/drawing/2014/main" id="{118D8209-B416-32F0-178E-682444234349}"/>
              </a:ext>
            </a:extLst>
          </p:cNvPr>
          <p:cNvSpPr/>
          <p:nvPr/>
        </p:nvSpPr>
        <p:spPr>
          <a:xfrm>
            <a:off x="8195271" y="2743365"/>
            <a:ext cx="484632" cy="543888"/>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5" name="Diagrama de flujo: disco magnético 84">
            <a:extLst>
              <a:ext uri="{FF2B5EF4-FFF2-40B4-BE49-F238E27FC236}">
                <a16:creationId xmlns:a16="http://schemas.microsoft.com/office/drawing/2014/main" id="{BCCBE762-4DB0-76B6-74EC-12A5B6B32449}"/>
              </a:ext>
            </a:extLst>
          </p:cNvPr>
          <p:cNvSpPr/>
          <p:nvPr/>
        </p:nvSpPr>
        <p:spPr>
          <a:xfrm>
            <a:off x="1258047" y="2687394"/>
            <a:ext cx="484632" cy="543888"/>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87" name="Conector recto de flecha 86">
            <a:extLst>
              <a:ext uri="{FF2B5EF4-FFF2-40B4-BE49-F238E27FC236}">
                <a16:creationId xmlns:a16="http://schemas.microsoft.com/office/drawing/2014/main" id="{F1DA344A-BB04-051F-B80F-415681BA9AA5}"/>
              </a:ext>
            </a:extLst>
          </p:cNvPr>
          <p:cNvCxnSpPr/>
          <p:nvPr/>
        </p:nvCxnSpPr>
        <p:spPr>
          <a:xfrm>
            <a:off x="8934048" y="3015310"/>
            <a:ext cx="4297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8" name="Corchetes 87">
            <a:extLst>
              <a:ext uri="{FF2B5EF4-FFF2-40B4-BE49-F238E27FC236}">
                <a16:creationId xmlns:a16="http://schemas.microsoft.com/office/drawing/2014/main" id="{F0FA9933-5C63-E772-02AE-ECF8095F3F53}"/>
              </a:ext>
            </a:extLst>
          </p:cNvPr>
          <p:cNvSpPr/>
          <p:nvPr/>
        </p:nvSpPr>
        <p:spPr>
          <a:xfrm>
            <a:off x="9739352" y="2097090"/>
            <a:ext cx="689086" cy="1801368"/>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r>
              <a:rPr lang="es-ES" sz="1200" dirty="0"/>
              <a:t>0,653</a:t>
            </a:r>
          </a:p>
          <a:p>
            <a:pPr algn="ctr"/>
            <a:r>
              <a:rPr lang="es-ES" sz="1200" dirty="0"/>
              <a:t>0,564</a:t>
            </a:r>
          </a:p>
          <a:p>
            <a:pPr algn="ctr"/>
            <a:r>
              <a:rPr lang="es-ES" sz="1200" dirty="0"/>
              <a:t>0,464</a:t>
            </a:r>
          </a:p>
          <a:p>
            <a:pPr algn="ctr"/>
            <a:r>
              <a:rPr lang="es-ES" sz="1200" dirty="0"/>
              <a:t>0,345</a:t>
            </a:r>
            <a:endParaRPr lang="es-CL" sz="1200" dirty="0"/>
          </a:p>
        </p:txBody>
      </p:sp>
    </p:spTree>
    <p:extLst>
      <p:ext uri="{BB962C8B-B14F-4D97-AF65-F5344CB8AC3E}">
        <p14:creationId xmlns:p14="http://schemas.microsoft.com/office/powerpoint/2010/main" val="1541592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3E20A1-513A-6EA8-4717-280E7204A78E}"/>
              </a:ext>
            </a:extLst>
          </p:cNvPr>
          <p:cNvSpPr>
            <a:spLocks noGrp="1"/>
          </p:cNvSpPr>
          <p:nvPr>
            <p:ph type="title"/>
          </p:nvPr>
        </p:nvSpPr>
        <p:spPr/>
        <p:txBody>
          <a:bodyPr/>
          <a:lstStyle/>
          <a:p>
            <a:r>
              <a:rPr lang="en-US" noProof="0" dirty="0"/>
              <a:t>Results and discussion</a:t>
            </a:r>
          </a:p>
        </p:txBody>
      </p:sp>
      <p:sp>
        <p:nvSpPr>
          <p:cNvPr id="3" name="Marcador de contenido 2">
            <a:extLst>
              <a:ext uri="{FF2B5EF4-FFF2-40B4-BE49-F238E27FC236}">
                <a16:creationId xmlns:a16="http://schemas.microsoft.com/office/drawing/2014/main" id="{27E24DA1-7760-648C-792C-868298146EE1}"/>
              </a:ext>
            </a:extLst>
          </p:cNvPr>
          <p:cNvSpPr>
            <a:spLocks noGrp="1"/>
          </p:cNvSpPr>
          <p:nvPr>
            <p:ph idx="1"/>
          </p:nvPr>
        </p:nvSpPr>
        <p:spPr/>
        <p:txBody>
          <a:bodyPr/>
          <a:lstStyle/>
          <a:p>
            <a:r>
              <a:rPr lang="en-US" noProof="0" dirty="0"/>
              <a:t>Hardware and firmware: </a:t>
            </a:r>
          </a:p>
          <a:p>
            <a:pPr lvl="1"/>
            <a:r>
              <a:rPr lang="en-US" noProof="0" dirty="0"/>
              <a:t>How does it behave? </a:t>
            </a:r>
          </a:p>
          <a:p>
            <a:pPr lvl="1"/>
            <a:r>
              <a:rPr lang="en-US" noProof="0" dirty="0"/>
              <a:t>What is obtained? In what format? </a:t>
            </a:r>
          </a:p>
          <a:p>
            <a:pPr lvl="1"/>
            <a:r>
              <a:rPr lang="en-US" dirty="0"/>
              <a:t>Limitations</a:t>
            </a:r>
            <a:endParaRPr lang="en-US" noProof="0" dirty="0"/>
          </a:p>
          <a:p>
            <a:r>
              <a:rPr lang="en-US" noProof="0" dirty="0"/>
              <a:t>Data processing</a:t>
            </a:r>
          </a:p>
          <a:p>
            <a:pPr lvl="1"/>
            <a:r>
              <a:rPr lang="en-US" noProof="0" dirty="0"/>
              <a:t>Result of the pipeline (normalized and filtered images)</a:t>
            </a:r>
          </a:p>
          <a:p>
            <a:pPr lvl="1"/>
            <a:r>
              <a:rPr lang="en-US" noProof="0" dirty="0"/>
              <a:t>Plot of time vs </a:t>
            </a:r>
            <a:r>
              <a:rPr lang="en-US" noProof="0" dirty="0" err="1"/>
              <a:t>temperatura</a:t>
            </a:r>
            <a:r>
              <a:rPr lang="en-US" noProof="0" dirty="0"/>
              <a:t> vs mean brightness</a:t>
            </a:r>
          </a:p>
          <a:p>
            <a:r>
              <a:rPr lang="en-US" noProof="0" dirty="0"/>
              <a:t>Eutectic modelling. </a:t>
            </a:r>
          </a:p>
          <a:p>
            <a:pPr lvl="1"/>
            <a:r>
              <a:rPr lang="en-US" noProof="0" dirty="0"/>
              <a:t>Use of NRTL model to obtain parameters and eutectic diagrams</a:t>
            </a:r>
          </a:p>
        </p:txBody>
      </p:sp>
    </p:spTree>
    <p:extLst>
      <p:ext uri="{BB962C8B-B14F-4D97-AF65-F5344CB8AC3E}">
        <p14:creationId xmlns:p14="http://schemas.microsoft.com/office/powerpoint/2010/main" val="4245001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Aplicación&#10;&#10;El contenido generado por IA puede ser incorrecto.">
            <a:extLst>
              <a:ext uri="{FF2B5EF4-FFF2-40B4-BE49-F238E27FC236}">
                <a16:creationId xmlns:a16="http://schemas.microsoft.com/office/drawing/2014/main" id="{4DDD2E84-7F25-8006-2E93-B4DFA35863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872" y="867090"/>
            <a:ext cx="3568731" cy="5047488"/>
          </a:xfrm>
          <a:prstGeom prst="rect">
            <a:avLst/>
          </a:prstGeom>
        </p:spPr>
      </p:pic>
      <p:sp>
        <p:nvSpPr>
          <p:cNvPr id="7" name="CuadroTexto 6">
            <a:extLst>
              <a:ext uri="{FF2B5EF4-FFF2-40B4-BE49-F238E27FC236}">
                <a16:creationId xmlns:a16="http://schemas.microsoft.com/office/drawing/2014/main" id="{3E9033F2-8374-4234-1F61-03160F655EBA}"/>
              </a:ext>
            </a:extLst>
          </p:cNvPr>
          <p:cNvSpPr txBox="1"/>
          <p:nvPr/>
        </p:nvSpPr>
        <p:spPr>
          <a:xfrm>
            <a:off x="4233672" y="1251763"/>
            <a:ext cx="7744968" cy="4662815"/>
          </a:xfrm>
          <a:prstGeom prst="rect">
            <a:avLst/>
          </a:prstGeom>
          <a:noFill/>
        </p:spPr>
        <p:txBody>
          <a:bodyPr wrap="square">
            <a:spAutoFit/>
          </a:bodyPr>
          <a:lstStyle/>
          <a:p>
            <a:pPr>
              <a:buNone/>
            </a:pPr>
            <a:r>
              <a:rPr lang="en-US" sz="1100" b="1" noProof="0" dirty="0" err="1">
                <a:cs typeface="Arial" panose="020B0604020202020204" pitchFamily="34" charset="0"/>
              </a:rPr>
              <a:t>HardwareX</a:t>
            </a:r>
            <a:r>
              <a:rPr lang="en-US" sz="1100" noProof="0" dirty="0">
                <a:cs typeface="Arial" panose="020B0604020202020204" pitchFamily="34" charset="0"/>
              </a:rPr>
              <a:t> </a:t>
            </a:r>
            <a:br>
              <a:rPr lang="en-US" sz="1100" noProof="0" dirty="0">
                <a:cs typeface="Arial" panose="020B0604020202020204" pitchFamily="34" charset="0"/>
              </a:rPr>
            </a:br>
            <a:r>
              <a:rPr lang="en-US" sz="1100" noProof="0" dirty="0">
                <a:cs typeface="Arial" panose="020B0604020202020204" pitchFamily="34" charset="0"/>
              </a:rPr>
              <a:t>An open access scientific hardware journal</a:t>
            </a:r>
          </a:p>
          <a:p>
            <a:pPr>
              <a:buNone/>
            </a:pPr>
            <a:endParaRPr lang="en-US" sz="1100" noProof="0" dirty="0">
              <a:cs typeface="Arial" panose="020B0604020202020204" pitchFamily="34" charset="0"/>
            </a:endParaRPr>
          </a:p>
          <a:p>
            <a:pPr>
              <a:buNone/>
            </a:pPr>
            <a:r>
              <a:rPr lang="en-US" sz="1100" noProof="0" dirty="0">
                <a:cs typeface="Arial" panose="020B0604020202020204" pitchFamily="34" charset="0"/>
              </a:rPr>
              <a:t>If this journal is a good fit for your scientific hardware, you can find out more via the </a:t>
            </a:r>
            <a:r>
              <a:rPr lang="en-US" sz="1100" noProof="0" dirty="0">
                <a:cs typeface="Arial" panose="020B0604020202020204" pitchFamily="34" charset="0"/>
                <a:hlinkClick r:id="rId3"/>
              </a:rPr>
              <a:t>Guide for Authors</a:t>
            </a:r>
            <a:r>
              <a:rPr lang="en-US" sz="1100" noProof="0" dirty="0">
                <a:cs typeface="Arial" panose="020B0604020202020204" pitchFamily="34" charset="0"/>
              </a:rPr>
              <a:t> and are invited to submit your manuscript using the </a:t>
            </a:r>
            <a:r>
              <a:rPr lang="en-US" sz="1100" noProof="0" dirty="0" err="1">
                <a:cs typeface="Arial" panose="020B0604020202020204" pitchFamily="34" charset="0"/>
              </a:rPr>
              <a:t>HardwareX</a:t>
            </a:r>
            <a:r>
              <a:rPr lang="en-US" sz="1100" noProof="0" dirty="0">
                <a:cs typeface="Arial" panose="020B0604020202020204" pitchFamily="34" charset="0"/>
              </a:rPr>
              <a:t> </a:t>
            </a:r>
            <a:r>
              <a:rPr lang="en-US" sz="1100" noProof="0" dirty="0">
                <a:cs typeface="Arial" panose="020B0604020202020204" pitchFamily="34" charset="0"/>
                <a:hlinkClick r:id="rId4"/>
              </a:rPr>
              <a:t>template</a:t>
            </a:r>
            <a:r>
              <a:rPr lang="en-US" sz="1100" noProof="0" dirty="0">
                <a:cs typeface="Arial" panose="020B0604020202020204" pitchFamily="34" charset="0"/>
              </a:rPr>
              <a:t>.</a:t>
            </a:r>
          </a:p>
          <a:p>
            <a:pPr>
              <a:buNone/>
            </a:pPr>
            <a:endParaRPr lang="en-US" sz="1100" noProof="0" dirty="0">
              <a:cs typeface="Arial" panose="020B0604020202020204" pitchFamily="34" charset="0"/>
            </a:endParaRPr>
          </a:p>
          <a:p>
            <a:pPr>
              <a:buNone/>
            </a:pPr>
            <a:r>
              <a:rPr lang="en-US" sz="1100" i="1" noProof="0" dirty="0" err="1">
                <a:cs typeface="Arial" panose="020B0604020202020204" pitchFamily="34" charset="0"/>
              </a:rPr>
              <a:t>HardwareX</a:t>
            </a:r>
            <a:r>
              <a:rPr lang="en-US" sz="1100" noProof="0" dirty="0">
                <a:cs typeface="Arial" panose="020B0604020202020204" pitchFamily="34" charset="0"/>
              </a:rPr>
              <a:t> is a multidisciplinary, open access, peer-reviewed journal which publishes articles that describe the design, construction and customization of scientific devices and equipment.</a:t>
            </a:r>
          </a:p>
          <a:p>
            <a:pPr>
              <a:buNone/>
            </a:pPr>
            <a:endParaRPr lang="en-US" sz="1100" noProof="0" dirty="0">
              <a:cs typeface="Arial" panose="020B0604020202020204" pitchFamily="34" charset="0"/>
            </a:endParaRPr>
          </a:p>
          <a:p>
            <a:pPr>
              <a:buNone/>
            </a:pPr>
            <a:r>
              <a:rPr lang="en-US" sz="1100" i="1" noProof="0" dirty="0" err="1">
                <a:cs typeface="Arial" panose="020B0604020202020204" pitchFamily="34" charset="0"/>
              </a:rPr>
              <a:t>HardwareX</a:t>
            </a:r>
            <a:r>
              <a:rPr lang="en-US" sz="1100" noProof="0" dirty="0">
                <a:cs typeface="Arial" panose="020B0604020202020204" pitchFamily="34" charset="0"/>
              </a:rPr>
              <a:t> promises to make scientific hardware:</a:t>
            </a:r>
          </a:p>
          <a:p>
            <a:pPr marL="171450" indent="-171450">
              <a:buFont typeface="Arial" panose="020B0604020202020204" pitchFamily="34" charset="0"/>
              <a:buChar char="•"/>
            </a:pPr>
            <a:r>
              <a:rPr lang="en-US" sz="1100" noProof="0" dirty="0">
                <a:cs typeface="Arial" panose="020B0604020202020204" pitchFamily="34" charset="0"/>
              </a:rPr>
              <a:t>Accessible - We will make your hardware article immediately and freely accessible.</a:t>
            </a:r>
          </a:p>
          <a:p>
            <a:pPr marL="171450" indent="-171450">
              <a:buFont typeface="Arial" panose="020B0604020202020204" pitchFamily="34" charset="0"/>
              <a:buChar char="•"/>
            </a:pPr>
            <a:r>
              <a:rPr lang="en-US" sz="1100" noProof="0" dirty="0">
                <a:cs typeface="Arial" panose="020B0604020202020204" pitchFamily="34" charset="0"/>
              </a:rPr>
              <a:t>Discoverable - We will make your hardware article easy to find and download.</a:t>
            </a:r>
          </a:p>
          <a:p>
            <a:pPr marL="171450" indent="-171450">
              <a:buFont typeface="Arial" panose="020B0604020202020204" pitchFamily="34" charset="0"/>
              <a:buChar char="•"/>
            </a:pPr>
            <a:r>
              <a:rPr lang="en-US" sz="1100" noProof="0" dirty="0">
                <a:cs typeface="Arial" panose="020B0604020202020204" pitchFamily="34" charset="0"/>
              </a:rPr>
              <a:t>Citable - Receive recognition for the work that you've done to develop scientific hardware with a peer-reviewed article with a distinct DOI. We will help you drive traffic to your hardware article.</a:t>
            </a:r>
          </a:p>
          <a:p>
            <a:pPr marL="171450" indent="-171450">
              <a:buFont typeface="Arial" panose="020B0604020202020204" pitchFamily="34" charset="0"/>
              <a:buChar char="•"/>
            </a:pPr>
            <a:r>
              <a:rPr lang="en-US" sz="1100" noProof="0" dirty="0">
                <a:cs typeface="Arial" panose="020B0604020202020204" pitchFamily="34" charset="0"/>
              </a:rPr>
              <a:t>Comprehensible - We will help you write a hardware article that is easy to digest and interpret.</a:t>
            </a:r>
          </a:p>
          <a:p>
            <a:pPr marL="171450" indent="-171450">
              <a:buFont typeface="Arial" panose="020B0604020202020204" pitchFamily="34" charset="0"/>
              <a:buChar char="•"/>
            </a:pPr>
            <a:r>
              <a:rPr lang="en-US" sz="1100" noProof="0" dirty="0">
                <a:cs typeface="Arial" panose="020B0604020202020204" pitchFamily="34" charset="0"/>
              </a:rPr>
              <a:t>Reviewed - Your article will be reviewed by experts in open source hardware.</a:t>
            </a:r>
          </a:p>
          <a:p>
            <a:pPr marL="171450" indent="-171450">
              <a:buFont typeface="Arial" panose="020B0604020202020204" pitchFamily="34" charset="0"/>
              <a:buChar char="•"/>
            </a:pPr>
            <a:r>
              <a:rPr lang="en-US" sz="1100" noProof="0" dirty="0">
                <a:cs typeface="Arial" panose="020B0604020202020204" pitchFamily="34" charset="0"/>
              </a:rPr>
              <a:t>Reproducible - Reduce duplication of effort with detailed descriptions of your hardware that make it easy for your peers to replicate and reproduce.</a:t>
            </a:r>
          </a:p>
          <a:p>
            <a:pPr marL="171450" indent="-171450">
              <a:buFont typeface="Arial" panose="020B0604020202020204" pitchFamily="34" charset="0"/>
              <a:buChar char="•"/>
            </a:pPr>
            <a:endParaRPr lang="en-US" sz="1100" noProof="0" dirty="0">
              <a:cs typeface="Arial" panose="020B0604020202020204" pitchFamily="34" charset="0"/>
            </a:endParaRPr>
          </a:p>
          <a:p>
            <a:pPr>
              <a:buNone/>
            </a:pPr>
            <a:r>
              <a:rPr lang="en-US" sz="1100" i="1" noProof="0" dirty="0" err="1">
                <a:cs typeface="Arial" panose="020B0604020202020204" pitchFamily="34" charset="0"/>
              </a:rPr>
              <a:t>HardwareX</a:t>
            </a:r>
            <a:r>
              <a:rPr lang="en-US" sz="1100" noProof="0" dirty="0">
                <a:cs typeface="Arial" panose="020B0604020202020204" pitchFamily="34" charset="0"/>
              </a:rPr>
              <a:t> is open to input from all scientific, technological, and medical disciplines. Scientific infrastructure will be interpreted in the broadest sense. Including hardware modifications to existing infrastructure, sensors and tools that perform measurements and other functions outside of the traditional lab setting (such as wearables, air/water quality sensors, and low cost alternatives to existing tools), and the creation of wholly new tools for either standard or novel laboratory tasks. Authors are encouraged to submit hardware developments that address all aspects of science, not only the final measurement, for example, enhancements in sample preparation and handling, user safety, and quality control. The use of distributed digital manufacturing strategies (e.g. 3-D printing) is encouraged. All designs must be submitted under an open hardware license.</a:t>
            </a:r>
          </a:p>
        </p:txBody>
      </p:sp>
    </p:spTree>
    <p:extLst>
      <p:ext uri="{BB962C8B-B14F-4D97-AF65-F5344CB8AC3E}">
        <p14:creationId xmlns:p14="http://schemas.microsoft.com/office/powerpoint/2010/main" val="4214716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00264F-699F-D89F-3FE6-0DECD6185A92}"/>
              </a:ext>
            </a:extLst>
          </p:cNvPr>
          <p:cNvSpPr>
            <a:spLocks noGrp="1"/>
          </p:cNvSpPr>
          <p:nvPr>
            <p:ph type="title"/>
          </p:nvPr>
        </p:nvSpPr>
        <p:spPr>
          <a:xfrm>
            <a:off x="838200" y="2766218"/>
            <a:ext cx="10515600" cy="1325563"/>
          </a:xfrm>
        </p:spPr>
        <p:txBody>
          <a:bodyPr>
            <a:normAutofit fontScale="90000"/>
          </a:bodyPr>
          <a:lstStyle/>
          <a:p>
            <a:pPr algn="ctr"/>
            <a:r>
              <a:rPr lang="en-US" noProof="0" dirty="0"/>
              <a:t>The modelling solid-liquid equilibria of unreported DES correspond to an application of the device, therefore, could be manuscript by its own.</a:t>
            </a:r>
          </a:p>
        </p:txBody>
      </p:sp>
    </p:spTree>
    <p:extLst>
      <p:ext uri="{BB962C8B-B14F-4D97-AF65-F5344CB8AC3E}">
        <p14:creationId xmlns:p14="http://schemas.microsoft.com/office/powerpoint/2010/main" val="168468575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TotalTime>
  <Words>566</Words>
  <Application>Microsoft Office PowerPoint</Application>
  <PresentationFormat>Panorámica</PresentationFormat>
  <Paragraphs>51</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Aptos</vt:lpstr>
      <vt:lpstr>Aptos Display</vt:lpstr>
      <vt:lpstr>Arial</vt:lpstr>
      <vt:lpstr>Tema de Office</vt:lpstr>
      <vt:lpstr>fusion-point-cam</vt:lpstr>
      <vt:lpstr>Hypothesis</vt:lpstr>
      <vt:lpstr>Objetivos</vt:lpstr>
      <vt:lpstr>Introduction </vt:lpstr>
      <vt:lpstr>Methodology (hardware)</vt:lpstr>
      <vt:lpstr>Methodology (hardware)</vt:lpstr>
      <vt:lpstr>Methodology (firmware)</vt:lpstr>
      <vt:lpstr>Image processing pipeline</vt:lpstr>
      <vt:lpstr>Results and discussion</vt:lpstr>
      <vt:lpstr>Presentación de PowerPoint</vt:lpstr>
      <vt:lpstr>The modelling solid-liquid equilibria of unreported DES correspond to an application of the device, therefore, could be manuscript by its own.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marco villegas</dc:creator>
  <cp:lastModifiedBy>marco villegas</cp:lastModifiedBy>
  <cp:revision>1</cp:revision>
  <dcterms:created xsi:type="dcterms:W3CDTF">2025-07-18T01:35:01Z</dcterms:created>
  <dcterms:modified xsi:type="dcterms:W3CDTF">2025-07-18T03:14:36Z</dcterms:modified>
</cp:coreProperties>
</file>